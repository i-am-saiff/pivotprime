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3"/>
  </p:notesMasterIdLst>
  <p:sldIdLst>
    <p:sldId id="257" r:id="rId2"/>
    <p:sldId id="259" r:id="rId3"/>
    <p:sldId id="261" r:id="rId4"/>
    <p:sldId id="262" r:id="rId5"/>
    <p:sldId id="279" r:id="rId6"/>
    <p:sldId id="263" r:id="rId7"/>
    <p:sldId id="271" r:id="rId8"/>
    <p:sldId id="273" r:id="rId9"/>
    <p:sldId id="274" r:id="rId10"/>
    <p:sldId id="278" r:id="rId11"/>
    <p:sldId id="280" r:id="rId12"/>
  </p:sldIdLst>
  <p:sldSz cx="12192000" cy="6858000"/>
  <p:notesSz cx="6858000" cy="9144000"/>
  <p:embeddedFontLst>
    <p:embeddedFont>
      <p:font typeface="Play" panose="020B0604020202020204" charset="0"/>
      <p:regular r:id="rId14"/>
      <p:bold r:id="rId1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9966000-E56D-E1E4-B6C1-B5D13452A597}" name="Iram Kauser" initials="IK" userId="2018ada2adf48dc3"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8" d="100"/>
          <a:sy n="88" d="100"/>
        </p:scale>
        <p:origin x="16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8/10/relationships/authors" Targe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ram Kauser" userId="2018ada2adf48dc3" providerId="LiveId" clId="{24E9E880-7B01-4D76-BE2A-7CF11D035EA8}"/>
    <pc:docChg chg="undo custSel addSld modSld">
      <pc:chgData name="Iram Kauser" userId="2018ada2adf48dc3" providerId="LiveId" clId="{24E9E880-7B01-4D76-BE2A-7CF11D035EA8}" dt="2026-09-30T12:32:48.368" v="380" actId="20577"/>
      <pc:docMkLst>
        <pc:docMk/>
      </pc:docMkLst>
      <pc:sldChg chg="delSp modSp mod">
        <pc:chgData name="Iram Kauser" userId="2018ada2adf48dc3" providerId="LiveId" clId="{24E9E880-7B01-4D76-BE2A-7CF11D035EA8}" dt="2026-09-30T12:09:59.246" v="263" actId="478"/>
        <pc:sldMkLst>
          <pc:docMk/>
          <pc:sldMk cId="0" sldId="257"/>
        </pc:sldMkLst>
        <pc:spChg chg="del">
          <ac:chgData name="Iram Kauser" userId="2018ada2adf48dc3" providerId="LiveId" clId="{24E9E880-7B01-4D76-BE2A-7CF11D035EA8}" dt="2026-09-30T12:09:59.246" v="263" actId="478"/>
          <ac:spMkLst>
            <pc:docMk/>
            <pc:sldMk cId="0" sldId="257"/>
            <ac:spMk id="91" creationId="{00000000-0000-0000-0000-000000000000}"/>
          </ac:spMkLst>
        </pc:spChg>
        <pc:spChg chg="mod">
          <ac:chgData name="Iram Kauser" userId="2018ada2adf48dc3" providerId="LiveId" clId="{24E9E880-7B01-4D76-BE2A-7CF11D035EA8}" dt="2026-09-30T11:48:23.202" v="3" actId="139"/>
          <ac:spMkLst>
            <pc:docMk/>
            <pc:sldMk cId="0" sldId="257"/>
            <ac:spMk id="990" creationId="{00000000-0000-0000-0000-000000000000}"/>
          </ac:spMkLst>
        </pc:spChg>
      </pc:sldChg>
      <pc:sldChg chg="modSp mod">
        <pc:chgData name="Iram Kauser" userId="2018ada2adf48dc3" providerId="LiveId" clId="{24E9E880-7B01-4D76-BE2A-7CF11D035EA8}" dt="2026-09-30T12:10:12.044" v="265" actId="20577"/>
        <pc:sldMkLst>
          <pc:docMk/>
          <pc:sldMk cId="0" sldId="259"/>
        </pc:sldMkLst>
        <pc:spChg chg="mod">
          <ac:chgData name="Iram Kauser" userId="2018ada2adf48dc3" providerId="LiveId" clId="{24E9E880-7B01-4D76-BE2A-7CF11D035EA8}" dt="2026-09-30T12:10:12.044" v="265" actId="20577"/>
          <ac:spMkLst>
            <pc:docMk/>
            <pc:sldMk cId="0" sldId="259"/>
            <ac:spMk id="990" creationId="{00000000-0000-0000-0000-000000000000}"/>
          </ac:spMkLst>
        </pc:spChg>
      </pc:sldChg>
      <pc:sldChg chg="modSp mod">
        <pc:chgData name="Iram Kauser" userId="2018ada2adf48dc3" providerId="LiveId" clId="{24E9E880-7B01-4D76-BE2A-7CF11D035EA8}" dt="2026-09-30T12:10:44.941" v="286" actId="20577"/>
        <pc:sldMkLst>
          <pc:docMk/>
          <pc:sldMk cId="0" sldId="262"/>
        </pc:sldMkLst>
        <pc:spChg chg="mod">
          <ac:chgData name="Iram Kauser" userId="2018ada2adf48dc3" providerId="LiveId" clId="{24E9E880-7B01-4D76-BE2A-7CF11D035EA8}" dt="2026-09-30T12:10:44.941" v="286" actId="20577"/>
          <ac:spMkLst>
            <pc:docMk/>
            <pc:sldMk cId="0" sldId="262"/>
            <ac:spMk id="990" creationId="{00000000-0000-0000-0000-000000000000}"/>
          </ac:spMkLst>
        </pc:spChg>
      </pc:sldChg>
      <pc:sldChg chg="delSp modSp mod">
        <pc:chgData name="Iram Kauser" userId="2018ada2adf48dc3" providerId="LiveId" clId="{24E9E880-7B01-4D76-BE2A-7CF11D035EA8}" dt="2026-09-30T12:09:54.553" v="262" actId="478"/>
        <pc:sldMkLst>
          <pc:docMk/>
          <pc:sldMk cId="0" sldId="263"/>
        </pc:sldMkLst>
        <pc:spChg chg="del">
          <ac:chgData name="Iram Kauser" userId="2018ada2adf48dc3" providerId="LiveId" clId="{24E9E880-7B01-4D76-BE2A-7CF11D035EA8}" dt="2026-09-30T12:09:54.553" v="262" actId="478"/>
          <ac:spMkLst>
            <pc:docMk/>
            <pc:sldMk cId="0" sldId="263"/>
            <ac:spMk id="130" creationId="{00000000-0000-0000-0000-000000000000}"/>
          </ac:spMkLst>
        </pc:spChg>
        <pc:spChg chg="mod">
          <ac:chgData name="Iram Kauser" userId="2018ada2adf48dc3" providerId="LiveId" clId="{24E9E880-7B01-4D76-BE2A-7CF11D035EA8}" dt="2026-09-30T12:09:51.848" v="261" actId="20577"/>
          <ac:spMkLst>
            <pc:docMk/>
            <pc:sldMk cId="0" sldId="263"/>
            <ac:spMk id="990" creationId="{00000000-0000-0000-0000-000000000000}"/>
          </ac:spMkLst>
        </pc:spChg>
      </pc:sldChg>
      <pc:sldChg chg="modSp mod">
        <pc:chgData name="Iram Kauser" userId="2018ada2adf48dc3" providerId="LiveId" clId="{24E9E880-7B01-4D76-BE2A-7CF11D035EA8}" dt="2026-09-30T12:09:43.644" v="260" actId="20577"/>
        <pc:sldMkLst>
          <pc:docMk/>
          <pc:sldMk cId="0" sldId="271"/>
        </pc:sldMkLst>
        <pc:spChg chg="mod">
          <ac:chgData name="Iram Kauser" userId="2018ada2adf48dc3" providerId="LiveId" clId="{24E9E880-7B01-4D76-BE2A-7CF11D035EA8}" dt="2026-09-30T12:09:43.644" v="260" actId="20577"/>
          <ac:spMkLst>
            <pc:docMk/>
            <pc:sldMk cId="0" sldId="271"/>
            <ac:spMk id="990" creationId="{00000000-0000-0000-0000-000000000000}"/>
          </ac:spMkLst>
        </pc:spChg>
      </pc:sldChg>
      <pc:sldChg chg="modSp mod">
        <pc:chgData name="Iram Kauser" userId="2018ada2adf48dc3" providerId="LiveId" clId="{24E9E880-7B01-4D76-BE2A-7CF11D035EA8}" dt="2026-09-30T11:58:08.192" v="171" actId="20577"/>
        <pc:sldMkLst>
          <pc:docMk/>
          <pc:sldMk cId="0" sldId="273"/>
        </pc:sldMkLst>
        <pc:spChg chg="mod">
          <ac:chgData name="Iram Kauser" userId="2018ada2adf48dc3" providerId="LiveId" clId="{24E9E880-7B01-4D76-BE2A-7CF11D035EA8}" dt="2026-09-30T11:58:08.192" v="171" actId="20577"/>
          <ac:spMkLst>
            <pc:docMk/>
            <pc:sldMk cId="0" sldId="273"/>
            <ac:spMk id="990" creationId="{00000000-0000-0000-0000-000000000000}"/>
          </ac:spMkLst>
        </pc:spChg>
      </pc:sldChg>
      <pc:sldChg chg="addSp delSp modSp add mod">
        <pc:chgData name="Iram Kauser" userId="2018ada2adf48dc3" providerId="LiveId" clId="{24E9E880-7B01-4D76-BE2A-7CF11D035EA8}" dt="2026-09-30T12:09:03.060" v="259" actId="962"/>
        <pc:sldMkLst>
          <pc:docMk/>
          <pc:sldMk cId="2884575358" sldId="279"/>
        </pc:sldMkLst>
        <pc:spChg chg="del">
          <ac:chgData name="Iram Kauser" userId="2018ada2adf48dc3" providerId="LiveId" clId="{24E9E880-7B01-4D76-BE2A-7CF11D035EA8}" dt="2026-09-30T11:50:25.209" v="27" actId="478"/>
          <ac:spMkLst>
            <pc:docMk/>
            <pc:sldMk cId="2884575358" sldId="279"/>
            <ac:spMk id="124" creationId="{A7686AE0-C981-174A-64CF-761D4268FF99}"/>
          </ac:spMkLst>
        </pc:spChg>
        <pc:spChg chg="mod">
          <ac:chgData name="Iram Kauser" userId="2018ada2adf48dc3" providerId="LiveId" clId="{24E9E880-7B01-4D76-BE2A-7CF11D035EA8}" dt="2026-09-30T12:08:30.930" v="245" actId="20577"/>
          <ac:spMkLst>
            <pc:docMk/>
            <pc:sldMk cId="2884575358" sldId="279"/>
            <ac:spMk id="990" creationId="{54D37D10-9F8B-F9AC-E0E1-5965CA8F23DB}"/>
          </ac:spMkLst>
        </pc:spChg>
        <pc:picChg chg="add mod">
          <ac:chgData name="Iram Kauser" userId="2018ada2adf48dc3" providerId="LiveId" clId="{24E9E880-7B01-4D76-BE2A-7CF11D035EA8}" dt="2026-09-30T12:08:45.401" v="251" actId="14100"/>
          <ac:picMkLst>
            <pc:docMk/>
            <pc:sldMk cId="2884575358" sldId="279"/>
            <ac:picMk id="3" creationId="{46867AD6-273B-A96B-7B29-E89BCA078EE9}"/>
          </ac:picMkLst>
        </pc:picChg>
        <pc:picChg chg="add mod">
          <ac:chgData name="Iram Kauser" userId="2018ada2adf48dc3" providerId="LiveId" clId="{24E9E880-7B01-4D76-BE2A-7CF11D035EA8}" dt="2026-09-30T12:08:58.239" v="254" actId="27614"/>
          <ac:picMkLst>
            <pc:docMk/>
            <pc:sldMk cId="2884575358" sldId="279"/>
            <ac:picMk id="5" creationId="{5952A020-2521-16EF-5DD8-AC3909079F0D}"/>
          </ac:picMkLst>
        </pc:picChg>
        <pc:picChg chg="add mod">
          <ac:chgData name="Iram Kauser" userId="2018ada2adf48dc3" providerId="LiveId" clId="{24E9E880-7B01-4D76-BE2A-7CF11D035EA8}" dt="2026-09-30T12:09:03.060" v="259" actId="962"/>
          <ac:picMkLst>
            <pc:docMk/>
            <pc:sldMk cId="2884575358" sldId="279"/>
            <ac:picMk id="7" creationId="{05149ED3-8399-0EE1-1A80-3F54194D4B1C}"/>
          </ac:picMkLst>
        </pc:picChg>
        <pc:picChg chg="del">
          <ac:chgData name="Iram Kauser" userId="2018ada2adf48dc3" providerId="LiveId" clId="{24E9E880-7B01-4D76-BE2A-7CF11D035EA8}" dt="2026-09-30T11:50:06.144" v="5" actId="478"/>
          <ac:picMkLst>
            <pc:docMk/>
            <pc:sldMk cId="2884575358" sldId="279"/>
            <ac:picMk id="123" creationId="{85C171D0-8BA3-8364-6D99-5748BE91F363}"/>
          </ac:picMkLst>
        </pc:picChg>
      </pc:sldChg>
      <pc:sldChg chg="addSp modSp add mod">
        <pc:chgData name="Iram Kauser" userId="2018ada2adf48dc3" providerId="LiveId" clId="{24E9E880-7B01-4D76-BE2A-7CF11D035EA8}" dt="2026-09-30T12:32:48.368" v="380" actId="20577"/>
        <pc:sldMkLst>
          <pc:docMk/>
          <pc:sldMk cId="1921607264" sldId="280"/>
        </pc:sldMkLst>
        <pc:spChg chg="add mod">
          <ac:chgData name="Iram Kauser" userId="2018ada2adf48dc3" providerId="LiveId" clId="{24E9E880-7B01-4D76-BE2A-7CF11D035EA8}" dt="2026-09-30T12:20:32.707" v="319" actId="947"/>
          <ac:spMkLst>
            <pc:docMk/>
            <pc:sldMk cId="1921607264" sldId="280"/>
            <ac:spMk id="10" creationId="{002FC113-1DB4-FD72-8317-177F7F82F906}"/>
          </ac:spMkLst>
        </pc:spChg>
        <pc:spChg chg="add mod">
          <ac:chgData name="Iram Kauser" userId="2018ada2adf48dc3" providerId="LiveId" clId="{24E9E880-7B01-4D76-BE2A-7CF11D035EA8}" dt="2026-09-30T12:20:32.732" v="325" actId="947"/>
          <ac:spMkLst>
            <pc:docMk/>
            <pc:sldMk cId="1921607264" sldId="280"/>
            <ac:spMk id="11" creationId="{79B9F1F1-30EE-9B1C-C4FF-AC2A3D913F52}"/>
          </ac:spMkLst>
        </pc:spChg>
        <pc:spChg chg="add mod">
          <ac:chgData name="Iram Kauser" userId="2018ada2adf48dc3" providerId="LiveId" clId="{24E9E880-7B01-4D76-BE2A-7CF11D035EA8}" dt="2026-09-30T12:32:48.368" v="380" actId="20577"/>
          <ac:spMkLst>
            <pc:docMk/>
            <pc:sldMk cId="1921607264" sldId="280"/>
            <ac:spMk id="12" creationId="{7FFE1585-A2D6-B24A-A012-8E1F8066517C}"/>
          </ac:spMkLst>
        </pc:spChg>
        <pc:spChg chg="add mod">
          <ac:chgData name="Iram Kauser" userId="2018ada2adf48dc3" providerId="LiveId" clId="{24E9E880-7B01-4D76-BE2A-7CF11D035EA8}" dt="2026-09-30T12:29:24.184" v="355"/>
          <ac:spMkLst>
            <pc:docMk/>
            <pc:sldMk cId="1921607264" sldId="280"/>
            <ac:spMk id="13" creationId="{CF5FB267-F8BC-C67D-E3CF-D3CADBA3D104}"/>
          </ac:spMkLst>
        </pc:spChg>
        <pc:spChg chg="add mod">
          <ac:chgData name="Iram Kauser" userId="2018ada2adf48dc3" providerId="LiveId" clId="{24E9E880-7B01-4D76-BE2A-7CF11D035EA8}" dt="2026-09-30T12:29:24.193" v="360"/>
          <ac:spMkLst>
            <pc:docMk/>
            <pc:sldMk cId="1921607264" sldId="280"/>
            <ac:spMk id="14" creationId="{9365D489-73DD-F4FC-88FC-2EBFD6221366}"/>
          </ac:spMkLst>
        </pc:spChg>
        <pc:spChg chg="add mod">
          <ac:chgData name="Iram Kauser" userId="2018ada2adf48dc3" providerId="LiveId" clId="{24E9E880-7B01-4D76-BE2A-7CF11D035EA8}" dt="2026-09-30T12:29:24.197" v="365"/>
          <ac:spMkLst>
            <pc:docMk/>
            <pc:sldMk cId="1921607264" sldId="280"/>
            <ac:spMk id="15" creationId="{0CFBB69C-E49B-82D8-944B-2A509EB0D172}"/>
          </ac:spMkLst>
        </pc:spChg>
        <pc:spChg chg="add mod">
          <ac:chgData name="Iram Kauser" userId="2018ada2adf48dc3" providerId="LiveId" clId="{24E9E880-7B01-4D76-BE2A-7CF11D035EA8}" dt="2026-09-30T12:29:24.285" v="372" actId="948"/>
          <ac:spMkLst>
            <pc:docMk/>
            <pc:sldMk cId="1921607264" sldId="280"/>
            <ac:spMk id="16" creationId="{CF559D32-AC79-E968-55A5-EC37B84291A0}"/>
          </ac:spMkLst>
        </pc:spChg>
        <pc:picChg chg="add mod">
          <ac:chgData name="Iram Kauser" userId="2018ada2adf48dc3" providerId="LiveId" clId="{24E9E880-7B01-4D76-BE2A-7CF11D035EA8}" dt="2026-09-30T12:20:32.522" v="294" actId="1582"/>
          <ac:picMkLst>
            <pc:docMk/>
            <pc:sldMk cId="1921607264" sldId="280"/>
            <ac:picMk id="3" creationId="{1D8D760B-D97D-F62A-E2E6-BA94EB277FB8}"/>
          </ac:picMkLst>
        </pc:picChg>
        <pc:picChg chg="add mod">
          <ac:chgData name="Iram Kauser" userId="2018ada2adf48dc3" providerId="LiveId" clId="{24E9E880-7B01-4D76-BE2A-7CF11D035EA8}" dt="2026-09-30T12:29:24.132" v="350" actId="1582"/>
          <ac:picMkLst>
            <pc:docMk/>
            <pc:sldMk cId="1921607264" sldId="280"/>
            <ac:picMk id="4" creationId="{A86AC3F0-FF2D-B0DB-D146-029555993F77}"/>
          </ac:picMkLst>
        </pc:picChg>
        <pc:picChg chg="add mod">
          <ac:chgData name="Iram Kauser" userId="2018ada2adf48dc3" providerId="LiveId" clId="{24E9E880-7B01-4D76-BE2A-7CF11D035EA8}" dt="2026-09-30T12:20:32.527" v="297" actId="1582"/>
          <ac:picMkLst>
            <pc:docMk/>
            <pc:sldMk cId="1921607264" sldId="280"/>
            <ac:picMk id="5" creationId="{507D0E81-585D-BE21-BE81-CE01B147DD8A}"/>
          </ac:picMkLst>
        </pc:picChg>
        <pc:cxnChg chg="add mod">
          <ac:chgData name="Iram Kauser" userId="2018ada2adf48dc3" providerId="LiveId" clId="{24E9E880-7B01-4D76-BE2A-7CF11D035EA8}" dt="2026-09-30T12:20:32.552" v="301" actId="693"/>
          <ac:cxnSpMkLst>
            <pc:docMk/>
            <pc:sldMk cId="1921607264" sldId="280"/>
            <ac:cxnSpMk id="6" creationId="{F5B972CB-04B2-D5FD-2DFB-DCDB1B3B224A}"/>
          </ac:cxnSpMkLst>
        </pc:cxnChg>
        <pc:cxnChg chg="add mod">
          <ac:chgData name="Iram Kauser" userId="2018ada2adf48dc3" providerId="LiveId" clId="{24E9E880-7B01-4D76-BE2A-7CF11D035EA8}" dt="2026-09-30T12:20:32.560" v="305" actId="693"/>
          <ac:cxnSpMkLst>
            <pc:docMk/>
            <pc:sldMk cId="1921607264" sldId="280"/>
            <ac:cxnSpMk id="7" creationId="{57C49525-47A1-BE9C-3C24-611A8F53D2D2}"/>
          </ac:cxnSpMkLst>
        </pc:cxnChg>
        <pc:cxnChg chg="add mod">
          <ac:chgData name="Iram Kauser" userId="2018ada2adf48dc3" providerId="LiveId" clId="{24E9E880-7B01-4D76-BE2A-7CF11D035EA8}" dt="2026-09-30T12:20:32.563" v="309" actId="693"/>
          <ac:cxnSpMkLst>
            <pc:docMk/>
            <pc:sldMk cId="1921607264" sldId="280"/>
            <ac:cxnSpMk id="8" creationId="{55D9AF62-0BF1-E03F-4B39-11E6AB37EDF9}"/>
          </ac:cxnSpMkLst>
        </pc:cxnChg>
        <pc:cxnChg chg="add mod">
          <ac:chgData name="Iram Kauser" userId="2018ada2adf48dc3" providerId="LiveId" clId="{24E9E880-7B01-4D76-BE2A-7CF11D035EA8}" dt="2026-09-30T12:20:32.567" v="313" actId="693"/>
          <ac:cxnSpMkLst>
            <pc:docMk/>
            <pc:sldMk cId="1921607264" sldId="280"/>
            <ac:cxnSpMk id="9" creationId="{F542B90A-242A-1A8E-AC57-267F09E5B7D2}"/>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0" name="Google Shape;100;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4" name="Google Shape;114;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1" name="Google Shape;121;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a:extLst>
            <a:ext uri="{FF2B5EF4-FFF2-40B4-BE49-F238E27FC236}">
              <a16:creationId xmlns:a16="http://schemas.microsoft.com/office/drawing/2014/main" id="{852F5070-DCE0-9EB4-173D-1D8FAEF8F3CD}"/>
            </a:ext>
          </a:extLst>
        </p:cNvPr>
        <p:cNvGrpSpPr/>
        <p:nvPr/>
      </p:nvGrpSpPr>
      <p:grpSpPr>
        <a:xfrm>
          <a:off x="0" y="0"/>
          <a:ext cx="0" cy="0"/>
          <a:chOff x="0" y="0"/>
          <a:chExt cx="0" cy="0"/>
        </a:xfrm>
      </p:grpSpPr>
      <p:sp>
        <p:nvSpPr>
          <p:cNvPr id="120" name="Google Shape;120;p7:notes">
            <a:extLst>
              <a:ext uri="{FF2B5EF4-FFF2-40B4-BE49-F238E27FC236}">
                <a16:creationId xmlns:a16="http://schemas.microsoft.com/office/drawing/2014/main" id="{427EC5ED-173F-1BA4-0334-E586D2565F4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1" name="Google Shape;121;p7:notes">
            <a:extLst>
              <a:ext uri="{FF2B5EF4-FFF2-40B4-BE49-F238E27FC236}">
                <a16:creationId xmlns:a16="http://schemas.microsoft.com/office/drawing/2014/main" id="{7D035FAE-F88B-5BFC-9342-8A4A157602A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430234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7" name="Google Shape;127;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6" name="Google Shape;176;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1" name="Google Shape;191;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57575"/>
              </a:buClr>
              <a:buSzPts val="2400"/>
              <a:buNone/>
              <a:defRPr sz="2400">
                <a:solidFill>
                  <a:srgbClr val="757575"/>
                </a:solidFill>
              </a:defRPr>
            </a:lvl1pPr>
            <a:lvl2pPr marL="914400" lvl="1" indent="-228600" algn="l">
              <a:lnSpc>
                <a:spcPct val="90000"/>
              </a:lnSpc>
              <a:spcBef>
                <a:spcPts val="500"/>
              </a:spcBef>
              <a:spcAft>
                <a:spcPts val="0"/>
              </a:spcAft>
              <a:buClr>
                <a:srgbClr val="757575"/>
              </a:buClr>
              <a:buSzPts val="2000"/>
              <a:buNone/>
              <a:defRPr sz="2000">
                <a:solidFill>
                  <a:srgbClr val="757575"/>
                </a:solidFill>
              </a:defRPr>
            </a:lvl2pPr>
            <a:lvl3pPr marL="1371600" lvl="2" indent="-228600" algn="l">
              <a:lnSpc>
                <a:spcPct val="90000"/>
              </a:lnSpc>
              <a:spcBef>
                <a:spcPts val="500"/>
              </a:spcBef>
              <a:spcAft>
                <a:spcPts val="0"/>
              </a:spcAft>
              <a:buClr>
                <a:srgbClr val="757575"/>
              </a:buClr>
              <a:buSzPts val="1800"/>
              <a:buNone/>
              <a:defRPr sz="1800">
                <a:solidFill>
                  <a:srgbClr val="757575"/>
                </a:solidFill>
              </a:defRPr>
            </a:lvl3pPr>
            <a:lvl4pPr marL="1828800" lvl="3" indent="-228600" algn="l">
              <a:lnSpc>
                <a:spcPct val="90000"/>
              </a:lnSpc>
              <a:spcBef>
                <a:spcPts val="500"/>
              </a:spcBef>
              <a:spcAft>
                <a:spcPts val="0"/>
              </a:spcAft>
              <a:buClr>
                <a:srgbClr val="757575"/>
              </a:buClr>
              <a:buSzPts val="1600"/>
              <a:buNone/>
              <a:defRPr sz="1600">
                <a:solidFill>
                  <a:srgbClr val="757575"/>
                </a:solidFill>
              </a:defRPr>
            </a:lvl4pPr>
            <a:lvl5pPr marL="2286000" lvl="4" indent="-228600" algn="l">
              <a:lnSpc>
                <a:spcPct val="90000"/>
              </a:lnSpc>
              <a:spcBef>
                <a:spcPts val="500"/>
              </a:spcBef>
              <a:spcAft>
                <a:spcPts val="0"/>
              </a:spcAft>
              <a:buClr>
                <a:srgbClr val="757575"/>
              </a:buClr>
              <a:buSzPts val="1600"/>
              <a:buNone/>
              <a:defRPr sz="1600">
                <a:solidFill>
                  <a:srgbClr val="757575"/>
                </a:solidFill>
              </a:defRPr>
            </a:lvl5pPr>
            <a:lvl6pPr marL="2743200" lvl="5" indent="-228600" algn="l">
              <a:lnSpc>
                <a:spcPct val="90000"/>
              </a:lnSpc>
              <a:spcBef>
                <a:spcPts val="500"/>
              </a:spcBef>
              <a:spcAft>
                <a:spcPts val="0"/>
              </a:spcAft>
              <a:buClr>
                <a:srgbClr val="757575"/>
              </a:buClr>
              <a:buSzPts val="1600"/>
              <a:buNone/>
              <a:defRPr sz="1600">
                <a:solidFill>
                  <a:srgbClr val="757575"/>
                </a:solidFill>
              </a:defRPr>
            </a:lvl6pPr>
            <a:lvl7pPr marL="3200400" lvl="6" indent="-228600" algn="l">
              <a:lnSpc>
                <a:spcPct val="90000"/>
              </a:lnSpc>
              <a:spcBef>
                <a:spcPts val="500"/>
              </a:spcBef>
              <a:spcAft>
                <a:spcPts val="0"/>
              </a:spcAft>
              <a:buClr>
                <a:srgbClr val="757575"/>
              </a:buClr>
              <a:buSzPts val="1600"/>
              <a:buNone/>
              <a:defRPr sz="1600">
                <a:solidFill>
                  <a:srgbClr val="757575"/>
                </a:solidFill>
              </a:defRPr>
            </a:lvl7pPr>
            <a:lvl8pPr marL="3657600" lvl="7" indent="-228600" algn="l">
              <a:lnSpc>
                <a:spcPct val="90000"/>
              </a:lnSpc>
              <a:spcBef>
                <a:spcPts val="500"/>
              </a:spcBef>
              <a:spcAft>
                <a:spcPts val="0"/>
              </a:spcAft>
              <a:buClr>
                <a:srgbClr val="757575"/>
              </a:buClr>
              <a:buSzPts val="1600"/>
              <a:buNone/>
              <a:defRPr sz="1600">
                <a:solidFill>
                  <a:srgbClr val="757575"/>
                </a:solidFill>
              </a:defRPr>
            </a:lvl8pPr>
            <a:lvl9pPr marL="4114800" lvl="8" indent="-228600" algn="l">
              <a:lnSpc>
                <a:spcPct val="90000"/>
              </a:lnSpc>
              <a:spcBef>
                <a:spcPts val="500"/>
              </a:spcBef>
              <a:spcAft>
                <a:spcPts val="0"/>
              </a:spcAft>
              <a:buClr>
                <a:srgbClr val="757575"/>
              </a:buClr>
              <a:buSzPts val="1600"/>
              <a:buNone/>
              <a:defRPr sz="1600">
                <a:solidFill>
                  <a:srgbClr val="757575"/>
                </a:solidFill>
              </a:defRPr>
            </a:lvl9pPr>
          </a:lstStyle>
          <a:p>
            <a:endParaRPr/>
          </a:p>
        </p:txBody>
      </p:sp>
      <p:sp>
        <p:nvSpPr>
          <p:cNvPr id="30" name="Google Shape;30;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6"/>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7"/>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5183188" y="987425"/>
            <a:ext cx="6172200" cy="4873625"/>
          </a:xfrm>
          <a:prstGeom prst="rect">
            <a:avLst/>
          </a:prstGeom>
          <a:noFill/>
          <a:ln>
            <a:noFill/>
          </a:ln>
        </p:spPr>
      </p:sp>
      <p:sp>
        <p:nvSpPr>
          <p:cNvPr id="64" name="Google Shape;64;p1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lay"/>
              <a:buNone/>
              <a:defRPr sz="4400" b="0" i="0" u="none" strike="noStrike" cap="non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8" name="Google Shape;8;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9" name="Google Shape;9;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0" name="Google Shape;10;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757575"/>
                </a:solidFill>
                <a:latin typeface="Arial"/>
                <a:ea typeface="Arial"/>
                <a:cs typeface="Arial"/>
                <a:sym typeface="Arial"/>
              </a:defRPr>
            </a:lvl1pPr>
            <a:lvl2pPr marL="0" marR="0" lvl="1" indent="0" algn="r" rtl="0">
              <a:spcBef>
                <a:spcPts val="0"/>
              </a:spcBef>
              <a:buNone/>
              <a:defRPr sz="1200" b="0" i="0" u="none" strike="noStrike" cap="none">
                <a:solidFill>
                  <a:srgbClr val="757575"/>
                </a:solidFill>
                <a:latin typeface="Arial"/>
                <a:ea typeface="Arial"/>
                <a:cs typeface="Arial"/>
                <a:sym typeface="Arial"/>
              </a:defRPr>
            </a:lvl2pPr>
            <a:lvl3pPr marL="0" marR="0" lvl="2" indent="0" algn="r" rtl="0">
              <a:spcBef>
                <a:spcPts val="0"/>
              </a:spcBef>
              <a:buNone/>
              <a:defRPr sz="1200" b="0" i="0" u="none" strike="noStrike" cap="none">
                <a:solidFill>
                  <a:srgbClr val="757575"/>
                </a:solidFill>
                <a:latin typeface="Arial"/>
                <a:ea typeface="Arial"/>
                <a:cs typeface="Arial"/>
                <a:sym typeface="Arial"/>
              </a:defRPr>
            </a:lvl3pPr>
            <a:lvl4pPr marL="0" marR="0" lvl="3" indent="0" algn="r" rtl="0">
              <a:spcBef>
                <a:spcPts val="0"/>
              </a:spcBef>
              <a:buNone/>
              <a:defRPr sz="1200" b="0" i="0" u="none" strike="noStrike" cap="none">
                <a:solidFill>
                  <a:srgbClr val="757575"/>
                </a:solidFill>
                <a:latin typeface="Arial"/>
                <a:ea typeface="Arial"/>
                <a:cs typeface="Arial"/>
                <a:sym typeface="Arial"/>
              </a:defRPr>
            </a:lvl4pPr>
            <a:lvl5pPr marL="0" marR="0" lvl="4" indent="0" algn="r" rtl="0">
              <a:spcBef>
                <a:spcPts val="0"/>
              </a:spcBef>
              <a:buNone/>
              <a:defRPr sz="1200" b="0" i="0" u="none" strike="noStrike" cap="none">
                <a:solidFill>
                  <a:srgbClr val="757575"/>
                </a:solidFill>
                <a:latin typeface="Arial"/>
                <a:ea typeface="Arial"/>
                <a:cs typeface="Arial"/>
                <a:sym typeface="Arial"/>
              </a:defRPr>
            </a:lvl5pPr>
            <a:lvl6pPr marL="0" marR="0" lvl="5" indent="0" algn="r" rtl="0">
              <a:spcBef>
                <a:spcPts val="0"/>
              </a:spcBef>
              <a:buNone/>
              <a:defRPr sz="1200" b="0" i="0" u="none" strike="noStrike" cap="none">
                <a:solidFill>
                  <a:srgbClr val="757575"/>
                </a:solidFill>
                <a:latin typeface="Arial"/>
                <a:ea typeface="Arial"/>
                <a:cs typeface="Arial"/>
                <a:sym typeface="Arial"/>
              </a:defRPr>
            </a:lvl6pPr>
            <a:lvl7pPr marL="0" marR="0" lvl="6" indent="0" algn="r" rtl="0">
              <a:spcBef>
                <a:spcPts val="0"/>
              </a:spcBef>
              <a:buNone/>
              <a:defRPr sz="1200" b="0" i="0" u="none" strike="noStrike" cap="none">
                <a:solidFill>
                  <a:srgbClr val="757575"/>
                </a:solidFill>
                <a:latin typeface="Arial"/>
                <a:ea typeface="Arial"/>
                <a:cs typeface="Arial"/>
                <a:sym typeface="Arial"/>
              </a:defRPr>
            </a:lvl7pPr>
            <a:lvl8pPr marL="0" marR="0" lvl="7" indent="0" algn="r" rtl="0">
              <a:spcBef>
                <a:spcPts val="0"/>
              </a:spcBef>
              <a:buNone/>
              <a:defRPr sz="1200" b="0" i="0" u="none" strike="noStrike" cap="none">
                <a:solidFill>
                  <a:srgbClr val="757575"/>
                </a:solidFill>
                <a:latin typeface="Arial"/>
                <a:ea typeface="Arial"/>
                <a:cs typeface="Arial"/>
                <a:sym typeface="Arial"/>
              </a:defRPr>
            </a:lvl8pPr>
            <a:lvl9pPr marL="0" marR="0" lvl="8" indent="0" algn="r" rtl="0">
              <a:spcBef>
                <a:spcPts val="0"/>
              </a:spcBef>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hyperlink" Target="https://claude.ai/code/artifact/eeb21f42-35a9-4dce-ac61-a9c22f2faa19"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xml"/><Relationship Id="rId4"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pic>
        <p:nvPicPr>
          <p:cNvPr id="90" name="Google Shape;90;p14" descr="The image is a webpage with a green background, featuring a navigation bar with links to various services, a section highlighting PivotPrime's services for different industries, and a footer with a list of global companies and partners.&#10;&#10;AI-generated content may be incorrect."/>
          <p:cNvPicPr preferRelativeResize="0"/>
          <p:nvPr/>
        </p:nvPicPr>
        <p:blipFill rotWithShape="1">
          <a:blip r:embed="rId3">
            <a:alphaModFix/>
          </a:blip>
          <a:srcRect/>
          <a:stretch/>
        </p:blipFill>
        <p:spPr>
          <a:xfrm>
            <a:off x="775314" y="912352"/>
            <a:ext cx="8262257" cy="2978322"/>
          </a:xfrm>
          <a:prstGeom prst="rect">
            <a:avLst/>
          </a:prstGeom>
          <a:noFill/>
          <a:ln>
            <a:noFill/>
          </a:ln>
        </p:spPr>
      </p:pic>
      <p:sp>
        <p:nvSpPr>
          <p:cNvPr id="990" name="Status post-it"/>
          <p:cNvSpPr txBox="1"/>
          <p:nvPr/>
        </p:nvSpPr>
        <p:spPr>
          <a:xfrm>
            <a:off x="9098280" y="2240280"/>
            <a:ext cx="2971800" cy="960263"/>
          </a:xfrm>
          <a:prstGeom prst="rect">
            <a:avLst/>
          </a:prstGeom>
          <a:solidFill>
            <a:srgbClr val="FFC9DC"/>
          </a:solidFill>
          <a:ln w="19050">
            <a:solidFill>
              <a:srgbClr val="D63A6F"/>
            </a:solidFill>
          </a:ln>
          <a:effectLst>
            <a:outerShdw blurRad="50800" dist="25400" dir="2700000" algn="tl" rotWithShape="0">
              <a:srgbClr val="000000">
                <a:alpha val="25000"/>
              </a:srgbClr>
            </a:outerShdw>
          </a:effectLst>
        </p:spPr>
        <p:txBody>
          <a:bodyPr wrap="square" lIns="91440" tIns="64008" rIns="91440" bIns="64008" anchor="t">
            <a:spAutoFit/>
          </a:bodyPr>
          <a:lstStyle/>
          <a:p>
            <a:pPr>
              <a:buNone/>
            </a:pPr>
            <a:r>
              <a:rPr lang="en-GB" sz="900" b="1" dirty="0">
                <a:solidFill>
                  <a:srgbClr val="1A1A1A"/>
                </a:solidFill>
                <a:latin typeface="Arial"/>
                <a:ea typeface="Arial"/>
                <a:cs typeface="Arial"/>
              </a:rPr>
              <a:t>STATUS 30 SEP: NOT DONE YET</a:t>
            </a:r>
          </a:p>
          <a:p>
            <a:pPr marL="114300" indent="-114300">
              <a:spcBef>
                <a:spcPts val="300"/>
              </a:spcBef>
              <a:buFont typeface="Arial"/>
              <a:buChar char="•"/>
            </a:pPr>
            <a:r>
              <a:rPr lang="en-GB" sz="800" b="0" dirty="0">
                <a:solidFill>
                  <a:srgbClr val="1A1A1A"/>
                </a:solidFill>
                <a:latin typeface="Arial"/>
                <a:ea typeface="Arial"/>
                <a:cs typeface="Arial"/>
              </a:rPr>
              <a:t>The institutions strip still shows MetLife, Gallagher, Sky, Willis Towers Watson, KPMG and AIG. Ford, Dubizzle and OSN are missing.</a:t>
            </a:r>
          </a:p>
          <a:p>
            <a:pPr marL="114300" indent="-114300">
              <a:spcBef>
                <a:spcPts val="300"/>
              </a:spcBef>
              <a:buFont typeface="Arial"/>
              <a:buChar char="•"/>
            </a:pPr>
            <a:r>
              <a:rPr lang="en-GB" sz="800" b="0" dirty="0">
                <a:solidFill>
                  <a:srgbClr val="1A1A1A"/>
                </a:solidFill>
                <a:latin typeface="Arial"/>
                <a:ea typeface="Arial"/>
                <a:cs typeface="Arial"/>
              </a:rPr>
              <a:t>The "Companies we have delivered for" strip has none of Cinnacare, Nurture UAE, Scentmatic or BookMeetings yet.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pic>
        <p:nvPicPr>
          <p:cNvPr id="102" name="Google Shape;102;p16" descr="The image describes a service offering that includes operational clarity audits, fractional CFO, COO, and CTO roles, with a focus on mapping business processes, managing execution, and providing a prioritized roadmap for improvement.&#10;&#10;AI-generated content may be incorrect."/>
          <p:cNvPicPr preferRelativeResize="0"/>
          <p:nvPr/>
        </p:nvPicPr>
        <p:blipFill rotWithShape="1">
          <a:blip r:embed="rId3">
            <a:alphaModFix/>
          </a:blip>
          <a:srcRect/>
          <a:stretch/>
        </p:blipFill>
        <p:spPr>
          <a:xfrm>
            <a:off x="324638" y="520504"/>
            <a:ext cx="7325035" cy="3462464"/>
          </a:xfrm>
          <a:prstGeom prst="rect">
            <a:avLst/>
          </a:prstGeom>
          <a:noFill/>
          <a:ln>
            <a:noFill/>
          </a:ln>
        </p:spPr>
      </p:pic>
      <p:sp>
        <p:nvSpPr>
          <p:cNvPr id="105" name="Google Shape;105;p16"/>
          <p:cNvSpPr txBox="1"/>
          <p:nvPr/>
        </p:nvSpPr>
        <p:spPr>
          <a:xfrm>
            <a:off x="8388096" y="342900"/>
            <a:ext cx="3657600" cy="1023317"/>
          </a:xfrm>
          <a:prstGeom prst="rect">
            <a:avLst/>
          </a:prstGeom>
          <a:solidFill>
            <a:srgbClr val="FFFACC"/>
          </a:solidFill>
          <a:ln w="19050" cap="flat" cmpd="sng">
            <a:solidFill>
              <a:srgbClr val="D4A017"/>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i="0" u="none" strike="noStrike" cap="none" dirty="0">
                <a:solidFill>
                  <a:srgbClr val="1A1A1A"/>
                </a:solidFill>
                <a:latin typeface="Arial"/>
                <a:ea typeface="Arial"/>
                <a:cs typeface="Arial"/>
                <a:sym typeface="Arial"/>
              </a:rPr>
              <a:t>DEVELOPER NOTES</a:t>
            </a:r>
            <a:endParaRPr dirty="0"/>
          </a:p>
          <a:p>
            <a:pPr marL="0" marR="0" lvl="0" indent="0" algn="l" rtl="0">
              <a:spcBef>
                <a:spcPts val="0"/>
              </a:spcBef>
              <a:spcAft>
                <a:spcPts val="0"/>
              </a:spcAft>
              <a:buNone/>
            </a:pPr>
            <a:r>
              <a:rPr lang="en-US" sz="750" b="1" i="0" u="none" strike="noStrike" cap="none" dirty="0">
                <a:solidFill>
                  <a:srgbClr val="1A1A1A"/>
                </a:solidFill>
                <a:latin typeface="Arial"/>
                <a:ea typeface="Arial"/>
                <a:cs typeface="Arial"/>
                <a:sym typeface="Arial"/>
              </a:rPr>
              <a:t>[1] Have refined it so it reads as 3 cards under diagnose, lead and build.</a:t>
            </a:r>
          </a:p>
          <a:p>
            <a:pPr marL="0" marR="0" lvl="0" indent="0" algn="l" rtl="0">
              <a:spcBef>
                <a:spcPts val="0"/>
              </a:spcBef>
              <a:spcAft>
                <a:spcPts val="0"/>
              </a:spcAft>
              <a:buNone/>
            </a:pPr>
            <a:endParaRPr lang="en-US" sz="750" b="1" dirty="0">
              <a:solidFill>
                <a:srgbClr val="1A1A1A"/>
              </a:solidFill>
            </a:endParaRPr>
          </a:p>
          <a:p>
            <a:pPr lvl="0"/>
            <a:r>
              <a:rPr lang="en-US" sz="750" b="1" dirty="0">
                <a:solidFill>
                  <a:srgbClr val="1A1A1A"/>
                </a:solidFill>
              </a:rPr>
              <a:t>And only 3 offers now, see the html for this here - </a:t>
            </a:r>
            <a:r>
              <a:rPr lang="en-US" sz="750" b="1" dirty="0">
                <a:solidFill>
                  <a:srgbClr val="1A1A1A"/>
                </a:solidFill>
                <a:hlinkClick r:id="rId4"/>
              </a:rPr>
              <a:t>https://claude.ai/code/artifact/eeb21f42-35a9-4dce-ac61-a9c22f2faa19</a:t>
            </a:r>
            <a:endParaRPr lang="en-US" sz="750" b="1" dirty="0">
              <a:solidFill>
                <a:srgbClr val="1A1A1A"/>
              </a:solidFill>
            </a:endParaRPr>
          </a:p>
          <a:p>
            <a:pPr lvl="0"/>
            <a:endParaRPr lang="en-US" sz="750" b="1" dirty="0">
              <a:solidFill>
                <a:srgbClr val="1A1A1A"/>
              </a:solidFill>
            </a:endParaRPr>
          </a:p>
          <a:p>
            <a:pPr marL="0" marR="0" lvl="0" indent="0" algn="l" rtl="0">
              <a:spcBef>
                <a:spcPts val="0"/>
              </a:spcBef>
              <a:spcAft>
                <a:spcPts val="0"/>
              </a:spcAft>
              <a:buNone/>
            </a:pPr>
            <a:endParaRPr lang="en-US" sz="750" b="1" i="0" u="none" strike="noStrike" cap="none" dirty="0">
              <a:solidFill>
                <a:srgbClr val="1A1A1A"/>
              </a:solidFill>
              <a:latin typeface="Arial"/>
              <a:ea typeface="Arial"/>
              <a:cs typeface="Arial"/>
              <a:sym typeface="Arial"/>
            </a:endParaRPr>
          </a:p>
          <a:p>
            <a:pPr marL="0" marR="0" lvl="0" indent="0" algn="l" rtl="0">
              <a:spcBef>
                <a:spcPts val="0"/>
              </a:spcBef>
              <a:spcAft>
                <a:spcPts val="0"/>
              </a:spcAft>
              <a:buNone/>
            </a:pPr>
            <a:endParaRPr sz="750" b="1" i="0" u="none" strike="noStrike" cap="none" dirty="0">
              <a:solidFill>
                <a:srgbClr val="1A1A1A"/>
              </a:solidFill>
              <a:latin typeface="Arial"/>
              <a:ea typeface="Arial"/>
              <a:cs typeface="Arial"/>
              <a:sym typeface="Arial"/>
            </a:endParaRPr>
          </a:p>
        </p:txBody>
      </p:sp>
      <p:pic>
        <p:nvPicPr>
          <p:cNvPr id="3" name="Picture 2" descr="The image displays a webpage with a list of services, including diagnostics, leadership, and technological solutions, followed by a pricing model for operational optimization and a mention of engagement terms.&#10;&#10;AI-generated content may be incorrect.">
            <a:extLst>
              <a:ext uri="{FF2B5EF4-FFF2-40B4-BE49-F238E27FC236}">
                <a16:creationId xmlns:a16="http://schemas.microsoft.com/office/drawing/2014/main" id="{BE6822DB-A835-B0B4-2DA9-1C406D827781}"/>
              </a:ext>
            </a:extLst>
          </p:cNvPr>
          <p:cNvPicPr>
            <a:picLocks noChangeAspect="1"/>
          </p:cNvPicPr>
          <p:nvPr/>
        </p:nvPicPr>
        <p:blipFill>
          <a:blip r:embed="rId5"/>
          <a:stretch>
            <a:fillRect/>
          </a:stretch>
        </p:blipFill>
        <p:spPr>
          <a:xfrm>
            <a:off x="4759516" y="2076572"/>
            <a:ext cx="5780314" cy="2802709"/>
          </a:xfrm>
          <a:prstGeom prst="rect">
            <a:avLst/>
          </a:prstGeom>
        </p:spPr>
      </p:pic>
      <p:pic>
        <p:nvPicPr>
          <p:cNvPr id="5" name="Picture 4" descr="TAKE THE DIAGNOSTIC.&#10;&#10;AI-generated content may be incorrect.">
            <a:extLst>
              <a:ext uri="{FF2B5EF4-FFF2-40B4-BE49-F238E27FC236}">
                <a16:creationId xmlns:a16="http://schemas.microsoft.com/office/drawing/2014/main" id="{F3019718-CF4C-61DE-5915-BE844609A8BE}"/>
              </a:ext>
            </a:extLst>
          </p:cNvPr>
          <p:cNvPicPr>
            <a:picLocks noChangeAspect="1"/>
          </p:cNvPicPr>
          <p:nvPr/>
        </p:nvPicPr>
        <p:blipFill>
          <a:blip r:embed="rId6"/>
          <a:stretch>
            <a:fillRect/>
          </a:stretch>
        </p:blipFill>
        <p:spPr>
          <a:xfrm>
            <a:off x="4759516" y="5067393"/>
            <a:ext cx="5780314" cy="1534758"/>
          </a:xfrm>
          <a:prstGeom prst="rect">
            <a:avLst/>
          </a:prstGeom>
        </p:spPr>
      </p:pic>
      <p:sp>
        <p:nvSpPr>
          <p:cNvPr id="990" name="Status post-it"/>
          <p:cNvSpPr txBox="1"/>
          <p:nvPr/>
        </p:nvSpPr>
        <p:spPr>
          <a:xfrm>
            <a:off x="365760" y="4160520"/>
            <a:ext cx="4206240" cy="998735"/>
          </a:xfrm>
          <a:prstGeom prst="rect">
            <a:avLst/>
          </a:prstGeom>
          <a:solidFill>
            <a:srgbClr val="FFC9DC"/>
          </a:solidFill>
          <a:ln w="19050">
            <a:solidFill>
              <a:srgbClr val="D63A6F"/>
            </a:solidFill>
          </a:ln>
          <a:effectLst>
            <a:outerShdw blurRad="50800" dist="25400" dir="2700000" algn="tl" rotWithShape="0">
              <a:srgbClr val="000000">
                <a:alpha val="25000"/>
              </a:srgbClr>
            </a:outerShdw>
          </a:effectLst>
        </p:spPr>
        <p:txBody>
          <a:bodyPr wrap="square" lIns="91440" tIns="64008" rIns="91440" bIns="64008" anchor="t">
            <a:spAutoFit/>
          </a:bodyPr>
          <a:lstStyle/>
          <a:p>
            <a:pPr>
              <a:buNone/>
            </a:pPr>
            <a:r>
              <a:rPr lang="en-GB" sz="900" b="1" dirty="0">
                <a:solidFill>
                  <a:srgbClr val="1A1A1A"/>
                </a:solidFill>
                <a:latin typeface="Arial"/>
                <a:ea typeface="Arial"/>
                <a:cs typeface="Arial"/>
              </a:rPr>
              <a:t>STATUS 30 SEP: PARTLY DONE</a:t>
            </a:r>
          </a:p>
          <a:p>
            <a:pPr marL="114300" indent="-114300">
              <a:spcBef>
                <a:spcPts val="300"/>
              </a:spcBef>
              <a:buFont typeface="Arial"/>
              <a:buChar char="•"/>
            </a:pPr>
            <a:r>
              <a:rPr lang="en-GB" sz="800" b="0" dirty="0">
                <a:solidFill>
                  <a:srgbClr val="1A1A1A"/>
                </a:solidFill>
                <a:latin typeface="Arial"/>
                <a:ea typeface="Arial"/>
                <a:cs typeface="Arial"/>
              </a:rPr>
              <a:t>Done: the three cards (Diagnose, Lead, Build).</a:t>
            </a:r>
          </a:p>
          <a:p>
            <a:pPr marL="114300" indent="-114300">
              <a:spcBef>
                <a:spcPts val="300"/>
              </a:spcBef>
              <a:buFont typeface="Arial"/>
              <a:buChar char="•"/>
            </a:pPr>
            <a:r>
              <a:rPr lang="en-GB" sz="800" b="0" dirty="0">
                <a:solidFill>
                  <a:srgbClr val="1A1A1A"/>
                </a:solidFill>
                <a:latin typeface="Arial"/>
                <a:ea typeface="Arial"/>
                <a:cs typeface="Arial"/>
              </a:rPr>
              <a:t>Still to do: Build and Place is still a full offer inside the Lead card, and UAE Market Entry is still a full offer inside the Build card. Fold both into short notes as in the mock-up, so there are only 3 offers.</a:t>
            </a:r>
          </a:p>
          <a:p>
            <a:pPr marL="114300" indent="-114300">
              <a:spcBef>
                <a:spcPts val="300"/>
              </a:spcBef>
              <a:buFont typeface="Arial"/>
              <a:buChar char="•"/>
            </a:pPr>
            <a:r>
              <a:rPr lang="en-GB" sz="800" b="0" dirty="0">
                <a:solidFill>
                  <a:srgbClr val="1A1A1A"/>
                </a:solidFill>
                <a:latin typeface="Arial"/>
                <a:ea typeface="Arial"/>
                <a:cs typeface="Arial"/>
              </a:rPr>
              <a:t>The Services page still says "which of the five you actually need". Change it to three.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18" descr="The image is a webpage for PivotPrime, featuring a headshot of a person, a description of their services, and a testimonial about their expertise in actuarial roles.&#10;&#10;AI-generated content may be incorrect."/>
          <p:cNvPicPr preferRelativeResize="0"/>
          <p:nvPr/>
        </p:nvPicPr>
        <p:blipFill rotWithShape="1">
          <a:blip r:embed="rId3">
            <a:alphaModFix/>
          </a:blip>
          <a:srcRect/>
          <a:stretch/>
        </p:blipFill>
        <p:spPr>
          <a:xfrm>
            <a:off x="249216" y="436099"/>
            <a:ext cx="6968645" cy="3861669"/>
          </a:xfrm>
          <a:prstGeom prst="rect">
            <a:avLst/>
          </a:prstGeom>
          <a:noFill/>
          <a:ln>
            <a:noFill/>
          </a:ln>
        </p:spPr>
      </p:pic>
      <p:pic>
        <p:nvPicPr>
          <p:cNvPr id="117" name="Google Shape;117;p18"/>
          <p:cNvPicPr preferRelativeResize="0"/>
          <p:nvPr/>
        </p:nvPicPr>
        <p:blipFill rotWithShape="1">
          <a:blip r:embed="rId4">
            <a:alphaModFix/>
          </a:blip>
          <a:srcRect/>
          <a:stretch/>
        </p:blipFill>
        <p:spPr>
          <a:xfrm>
            <a:off x="7559529" y="801858"/>
            <a:ext cx="3911988" cy="4719670"/>
          </a:xfrm>
          <a:prstGeom prst="rect">
            <a:avLst/>
          </a:prstGeom>
          <a:noFill/>
          <a:ln>
            <a:noFill/>
          </a:ln>
        </p:spPr>
      </p:pic>
      <p:sp>
        <p:nvSpPr>
          <p:cNvPr id="118" name="Google Shape;118;p18"/>
          <p:cNvSpPr txBox="1"/>
          <p:nvPr/>
        </p:nvSpPr>
        <p:spPr>
          <a:xfrm>
            <a:off x="3560261" y="342900"/>
            <a:ext cx="3657600" cy="907900"/>
          </a:xfrm>
          <a:prstGeom prst="rect">
            <a:avLst/>
          </a:prstGeom>
          <a:solidFill>
            <a:srgbClr val="FFFACC"/>
          </a:solidFill>
          <a:ln w="19050" cap="flat" cmpd="sng">
            <a:solidFill>
              <a:srgbClr val="D4A017"/>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i="0" u="none" strike="noStrike" cap="none" dirty="0">
                <a:solidFill>
                  <a:srgbClr val="1A1A1A"/>
                </a:solidFill>
                <a:latin typeface="Arial"/>
                <a:ea typeface="Arial"/>
                <a:cs typeface="Arial"/>
                <a:sym typeface="Arial"/>
              </a:rPr>
              <a:t>DEVELOPER NOTES</a:t>
            </a:r>
            <a:endParaRPr dirty="0"/>
          </a:p>
          <a:p>
            <a:pPr marL="0" marR="0" lvl="0" indent="0" algn="l" rtl="0">
              <a:spcBef>
                <a:spcPts val="0"/>
              </a:spcBef>
              <a:spcAft>
                <a:spcPts val="0"/>
              </a:spcAft>
              <a:buNone/>
            </a:pPr>
            <a:r>
              <a:rPr lang="en-US" sz="750" b="1" i="0" u="none" strike="noStrike" cap="none" dirty="0">
                <a:solidFill>
                  <a:srgbClr val="1A1A1A"/>
                </a:solidFill>
                <a:latin typeface="Arial"/>
                <a:ea typeface="Arial"/>
                <a:cs typeface="Arial"/>
                <a:sym typeface="Arial"/>
              </a:rPr>
              <a:t>[1] Eyebrow heading - Meet the CEO &amp; Founder, then as per second pic here, but keep my photo of course</a:t>
            </a:r>
            <a:endParaRPr dirty="0"/>
          </a:p>
          <a:p>
            <a:pPr marL="0" marR="0" lvl="0" indent="0" algn="l" rtl="0">
              <a:spcBef>
                <a:spcPts val="0"/>
              </a:spcBef>
              <a:spcAft>
                <a:spcPts val="0"/>
              </a:spcAft>
              <a:buNone/>
            </a:pPr>
            <a:endParaRPr lang="en-US" sz="750" b="1" dirty="0">
              <a:solidFill>
                <a:srgbClr val="1A1A1A"/>
              </a:solidFill>
            </a:endParaRPr>
          </a:p>
          <a:p>
            <a:pPr marL="0" marR="0" lvl="0" indent="0" algn="l" rtl="0">
              <a:spcBef>
                <a:spcPts val="0"/>
              </a:spcBef>
              <a:spcAft>
                <a:spcPts val="0"/>
              </a:spcAft>
              <a:buNone/>
            </a:pPr>
            <a:r>
              <a:rPr lang="en-US" sz="750" b="1" dirty="0">
                <a:solidFill>
                  <a:srgbClr val="1A1A1A"/>
                </a:solidFill>
              </a:rPr>
              <a:t>[2] – Use right hand side text and heading please.</a:t>
            </a:r>
          </a:p>
          <a:p>
            <a:pPr marL="0" marR="0" lvl="0" indent="0" algn="l" rtl="0">
              <a:spcBef>
                <a:spcPts val="0"/>
              </a:spcBef>
              <a:spcAft>
                <a:spcPts val="0"/>
              </a:spcAft>
              <a:buNone/>
            </a:pPr>
            <a:endParaRPr lang="en-US" sz="750" b="1" dirty="0">
              <a:solidFill>
                <a:srgbClr val="1A1A1A"/>
              </a:solidFill>
            </a:endParaRPr>
          </a:p>
          <a:p>
            <a:pPr marL="0" marR="0" lvl="0" indent="0" algn="l" rtl="0">
              <a:spcBef>
                <a:spcPts val="0"/>
              </a:spcBef>
              <a:spcAft>
                <a:spcPts val="0"/>
              </a:spcAft>
              <a:buNone/>
            </a:pPr>
            <a:r>
              <a:rPr lang="en-US" sz="750" b="1" dirty="0">
                <a:solidFill>
                  <a:srgbClr val="1A1A1A"/>
                </a:solidFill>
              </a:rPr>
              <a:t>[3) reminder buttons to remain rectangular as currently is</a:t>
            </a:r>
            <a:endParaRPr dirty="0"/>
          </a:p>
        </p:txBody>
      </p:sp>
      <p:sp>
        <p:nvSpPr>
          <p:cNvPr id="990" name="Status post-it"/>
          <p:cNvSpPr txBox="1"/>
          <p:nvPr/>
        </p:nvSpPr>
        <p:spPr>
          <a:xfrm>
            <a:off x="274320" y="4480560"/>
            <a:ext cx="6858000" cy="875624"/>
          </a:xfrm>
          <a:prstGeom prst="rect">
            <a:avLst/>
          </a:prstGeom>
          <a:solidFill>
            <a:srgbClr val="FFC9DC"/>
          </a:solidFill>
          <a:ln w="19050">
            <a:solidFill>
              <a:srgbClr val="D63A6F"/>
            </a:solidFill>
          </a:ln>
          <a:effectLst>
            <a:outerShdw blurRad="50800" dist="25400" dir="2700000" algn="tl" rotWithShape="0">
              <a:srgbClr val="000000">
                <a:alpha val="25000"/>
              </a:srgbClr>
            </a:outerShdw>
          </a:effectLst>
        </p:spPr>
        <p:txBody>
          <a:bodyPr wrap="square" lIns="91440" tIns="64008" rIns="91440" bIns="64008" anchor="t">
            <a:spAutoFit/>
          </a:bodyPr>
          <a:lstStyle/>
          <a:p>
            <a:pPr>
              <a:buNone/>
            </a:pPr>
            <a:r>
              <a:rPr lang="en-GB" sz="900" b="1" dirty="0">
                <a:solidFill>
                  <a:srgbClr val="1A1A1A"/>
                </a:solidFill>
                <a:latin typeface="Arial"/>
                <a:ea typeface="Arial"/>
                <a:cs typeface="Arial"/>
              </a:rPr>
              <a:t>STATUS 30 SEP: NOT DONE YET</a:t>
            </a:r>
          </a:p>
          <a:p>
            <a:pPr marL="114300" indent="-114300">
              <a:spcBef>
                <a:spcPts val="300"/>
              </a:spcBef>
              <a:buFont typeface="Arial"/>
              <a:buChar char="•"/>
            </a:pPr>
            <a:r>
              <a:rPr lang="en-GB" sz="800" b="0" dirty="0">
                <a:solidFill>
                  <a:srgbClr val="1A1A1A"/>
                </a:solidFill>
                <a:latin typeface="Arial"/>
                <a:ea typeface="Arial"/>
                <a:cs typeface="Arial"/>
              </a:rPr>
              <a:t>There is no "Meet the CEO &amp; Founder" eyebrow yet.</a:t>
            </a:r>
          </a:p>
          <a:p>
            <a:pPr marL="114300" indent="-114300">
              <a:spcBef>
                <a:spcPts val="300"/>
              </a:spcBef>
              <a:buFont typeface="Arial"/>
              <a:buChar char="•"/>
            </a:pPr>
            <a:r>
              <a:rPr lang="en-GB" sz="800" b="0" dirty="0">
                <a:solidFill>
                  <a:srgbClr val="1A1A1A"/>
                </a:solidFill>
                <a:latin typeface="Arial"/>
                <a:ea typeface="Arial"/>
                <a:cs typeface="Arial"/>
              </a:rPr>
              <a:t>The homepage still uses the old heading and text ("Pivot Prime is led by a Mathematician..."). Replace them with the heading and text in the right-hand picture, keeping my photo.</a:t>
            </a:r>
          </a:p>
          <a:p>
            <a:pPr marL="114300" indent="-114300">
              <a:spcBef>
                <a:spcPts val="300"/>
              </a:spcBef>
              <a:buFont typeface="Arial"/>
              <a:buChar char="•"/>
            </a:pPr>
            <a:r>
              <a:rPr lang="en-GB" sz="800" b="0" dirty="0">
                <a:solidFill>
                  <a:srgbClr val="1A1A1A"/>
                </a:solidFill>
                <a:latin typeface="Arial"/>
                <a:ea typeface="Arial"/>
                <a:cs typeface="Arial"/>
              </a:rPr>
              <a:t>Button shape is correct, keep it.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pic>
        <p:nvPicPr>
          <p:cNvPr id="123" name="Google Shape;123;p19" descr="The image depicts a professional profile for Iram Kauser, highlighting her extensive experience in senior roles across various organizations, her role as a Fellow of the Institute and Faculty of Actuaries, and her current position as CEO of Pivot Prime.&#10;&#10;AI-generated content may be incorrect."/>
          <p:cNvPicPr preferRelativeResize="0"/>
          <p:nvPr/>
        </p:nvPicPr>
        <p:blipFill rotWithShape="1">
          <a:blip r:embed="rId3">
            <a:alphaModFix/>
          </a:blip>
          <a:srcRect/>
          <a:stretch/>
        </p:blipFill>
        <p:spPr>
          <a:xfrm>
            <a:off x="0" y="592932"/>
            <a:ext cx="9335503" cy="3952636"/>
          </a:xfrm>
          <a:prstGeom prst="rect">
            <a:avLst/>
          </a:prstGeom>
          <a:noFill/>
          <a:ln>
            <a:noFill/>
          </a:ln>
        </p:spPr>
      </p:pic>
      <p:sp>
        <p:nvSpPr>
          <p:cNvPr id="124" name="Google Shape;124;p19"/>
          <p:cNvSpPr txBox="1"/>
          <p:nvPr/>
        </p:nvSpPr>
        <p:spPr>
          <a:xfrm>
            <a:off x="8388096" y="342900"/>
            <a:ext cx="3657600" cy="6240129"/>
          </a:xfrm>
          <a:prstGeom prst="rect">
            <a:avLst/>
          </a:prstGeom>
          <a:solidFill>
            <a:srgbClr val="FFFACC"/>
          </a:solidFill>
          <a:ln w="19050" cap="flat" cmpd="sng">
            <a:solidFill>
              <a:srgbClr val="D4A017"/>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i="0" u="none" strike="noStrike" cap="none" dirty="0">
                <a:solidFill>
                  <a:srgbClr val="1A1A1A"/>
                </a:solidFill>
                <a:latin typeface="Arial"/>
                <a:ea typeface="Arial"/>
                <a:cs typeface="Arial"/>
                <a:sym typeface="Arial"/>
              </a:rPr>
              <a:t>DEVELOPER NOTES</a:t>
            </a:r>
            <a:endParaRPr dirty="0"/>
          </a:p>
          <a:p>
            <a:pPr marL="0" marR="0" lvl="0" indent="0" algn="l" rtl="0">
              <a:spcBef>
                <a:spcPts val="0"/>
              </a:spcBef>
              <a:spcAft>
                <a:spcPts val="0"/>
              </a:spcAft>
              <a:buNone/>
            </a:pPr>
            <a:r>
              <a:rPr lang="en-US" sz="750" b="1" i="0" u="none" strike="noStrike" cap="none" dirty="0">
                <a:solidFill>
                  <a:srgbClr val="1A1A1A"/>
                </a:solidFill>
                <a:latin typeface="Arial"/>
                <a:ea typeface="Arial"/>
                <a:cs typeface="Arial"/>
                <a:sym typeface="Arial"/>
              </a:rPr>
              <a:t>[1] Below add my linked in page, and say connect with Iram on </a:t>
            </a:r>
            <a:r>
              <a:rPr lang="en-US" sz="750" b="1" i="0" u="none" strike="noStrike" cap="none" dirty="0" err="1">
                <a:solidFill>
                  <a:srgbClr val="1A1A1A"/>
                </a:solidFill>
                <a:latin typeface="Arial"/>
                <a:ea typeface="Arial"/>
                <a:cs typeface="Arial"/>
                <a:sym typeface="Arial"/>
              </a:rPr>
              <a:t>Linkedin</a:t>
            </a:r>
            <a:r>
              <a:rPr lang="en-US" sz="750" b="1" i="0" u="none" strike="noStrike" cap="none" dirty="0">
                <a:solidFill>
                  <a:srgbClr val="1A1A1A"/>
                </a:solidFill>
                <a:latin typeface="Arial"/>
                <a:ea typeface="Arial"/>
                <a:cs typeface="Arial"/>
                <a:sym typeface="Arial"/>
              </a:rPr>
              <a:t>, </a:t>
            </a:r>
            <a:r>
              <a:rPr lang="en-US" sz="750" b="1" i="0" u="none" strike="noStrike" cap="none" dirty="0">
                <a:solidFill>
                  <a:srgbClr val="1A1A1A"/>
                </a:solidFill>
                <a:highlight>
                  <a:srgbClr val="FFFF00"/>
                </a:highlight>
                <a:latin typeface="Arial"/>
                <a:ea typeface="Arial"/>
                <a:cs typeface="Arial"/>
                <a:sym typeface="Arial"/>
              </a:rPr>
              <a:t>do this for all staff.</a:t>
            </a:r>
            <a:endParaRPr dirty="0">
              <a:highlight>
                <a:srgbClr val="FFFF00"/>
              </a:highlight>
            </a:endParaRPr>
          </a:p>
          <a:p>
            <a:pPr marL="0" marR="0" lvl="0" indent="0" algn="l" rtl="0">
              <a:spcBef>
                <a:spcPts val="0"/>
              </a:spcBef>
              <a:spcAft>
                <a:spcPts val="0"/>
              </a:spcAft>
              <a:buNone/>
            </a:pPr>
            <a:endParaRPr sz="750" b="1" i="0" u="none" strike="noStrike" cap="none" dirty="0">
              <a:solidFill>
                <a:srgbClr val="1A1A1A"/>
              </a:solidFill>
              <a:latin typeface="Arial"/>
              <a:ea typeface="Arial"/>
              <a:cs typeface="Arial"/>
              <a:sym typeface="Arial"/>
            </a:endParaRPr>
          </a:p>
          <a:p>
            <a:pPr marL="0" marR="0" lvl="0" indent="0" algn="l" rtl="0">
              <a:spcBef>
                <a:spcPts val="0"/>
              </a:spcBef>
              <a:spcAft>
                <a:spcPts val="0"/>
              </a:spcAft>
              <a:buNone/>
            </a:pPr>
            <a:r>
              <a:rPr lang="en-US" sz="750" b="1" i="0" u="none" strike="noStrike" cap="none" dirty="0">
                <a:solidFill>
                  <a:srgbClr val="1A1A1A"/>
                </a:solidFill>
                <a:latin typeface="Arial"/>
                <a:ea typeface="Arial"/>
                <a:cs typeface="Arial"/>
                <a:sym typeface="Arial"/>
              </a:rPr>
              <a:t>[2] Under the heading of my name, the text will be:</a:t>
            </a:r>
          </a:p>
          <a:p>
            <a:pPr marL="0" marR="0" lvl="0" indent="0" algn="l" rtl="0">
              <a:spcBef>
                <a:spcPts val="0"/>
              </a:spcBef>
              <a:spcAft>
                <a:spcPts val="0"/>
              </a:spcAft>
              <a:buNone/>
            </a:pPr>
            <a:endParaRPr lang="en-US" sz="750" b="1" dirty="0">
              <a:solidFill>
                <a:srgbClr val="1A1A1A"/>
              </a:solidFill>
            </a:endParaRPr>
          </a:p>
          <a:p>
            <a:pPr marL="0" marR="0" lvl="0" indent="0" algn="l" rtl="0">
              <a:spcBef>
                <a:spcPts val="0"/>
              </a:spcBef>
              <a:spcAft>
                <a:spcPts val="0"/>
              </a:spcAft>
              <a:buNone/>
            </a:pPr>
            <a:r>
              <a:rPr lang="en-US" sz="750" i="0" u="none" strike="noStrike" cap="none" dirty="0">
                <a:solidFill>
                  <a:srgbClr val="1A1A1A"/>
                </a:solidFill>
                <a:latin typeface="Arial"/>
                <a:ea typeface="Arial"/>
                <a:cs typeface="Arial"/>
                <a:sym typeface="Arial"/>
              </a:rPr>
              <a:t>Iram has held the roles that Pivot Prime now provides for its clients.</a:t>
            </a:r>
            <a:endParaRPr dirty="0"/>
          </a:p>
          <a:p>
            <a:pPr marL="0" marR="0" lvl="0" indent="0" algn="l" rtl="0">
              <a:spcBef>
                <a:spcPts val="0"/>
              </a:spcBef>
              <a:spcAft>
                <a:spcPts val="0"/>
              </a:spcAft>
              <a:buNone/>
            </a:pPr>
            <a:endParaRPr sz="750" i="0" u="none" strike="noStrike" cap="none" dirty="0">
              <a:solidFill>
                <a:srgbClr val="1A1A1A"/>
              </a:solidFill>
              <a:latin typeface="Arial"/>
              <a:ea typeface="Arial"/>
              <a:cs typeface="Arial"/>
              <a:sym typeface="Arial"/>
            </a:endParaRPr>
          </a:p>
          <a:p>
            <a:pPr marL="0" marR="0" lvl="0" indent="0" algn="l" rtl="0">
              <a:spcBef>
                <a:spcPts val="0"/>
              </a:spcBef>
              <a:spcAft>
                <a:spcPts val="0"/>
              </a:spcAft>
              <a:buNone/>
            </a:pPr>
            <a:r>
              <a:rPr lang="en-US" sz="650" b="0" i="0" u="none" strike="noStrike" cap="none" dirty="0">
                <a:solidFill>
                  <a:srgbClr val="1A1A1A"/>
                </a:solidFill>
                <a:latin typeface="Arial"/>
                <a:ea typeface="Arial"/>
                <a:cs typeface="Arial"/>
                <a:sym typeface="Arial"/>
              </a:rPr>
              <a:t>Chief of Staff to the CEO of AIG GCCNA. Head of Operations at Gallagher's Middle East brokerage, with full accountability for compliance, finance, IT, HR, claims and offshore delivery. Head of Pricing and Portfolio Management for a $120M book spanning the Middle East, Africa and Israel. She has not studied these functions from the outside. She has run them.</a:t>
            </a:r>
            <a:endParaRPr dirty="0"/>
          </a:p>
          <a:p>
            <a:pPr marL="0" marR="0" lvl="0" indent="0" algn="l" rtl="0">
              <a:spcBef>
                <a:spcPts val="0"/>
              </a:spcBef>
              <a:spcAft>
                <a:spcPts val="0"/>
              </a:spcAft>
              <a:buNone/>
            </a:pPr>
            <a:endParaRPr sz="650" b="0" i="0" u="none" strike="noStrike" cap="none" dirty="0">
              <a:solidFill>
                <a:srgbClr val="1A1A1A"/>
              </a:solidFill>
              <a:latin typeface="Arial"/>
              <a:ea typeface="Arial"/>
              <a:cs typeface="Arial"/>
              <a:sym typeface="Arial"/>
            </a:endParaRPr>
          </a:p>
          <a:p>
            <a:pPr marL="0" marR="0" lvl="0" indent="0" algn="l" rtl="0">
              <a:spcBef>
                <a:spcPts val="0"/>
              </a:spcBef>
              <a:spcAft>
                <a:spcPts val="0"/>
              </a:spcAft>
              <a:buNone/>
            </a:pPr>
            <a:r>
              <a:rPr lang="en-US" sz="650" b="0" i="0" u="none" strike="noStrike" cap="none" dirty="0">
                <a:solidFill>
                  <a:srgbClr val="1A1A1A"/>
                </a:solidFill>
                <a:latin typeface="Arial"/>
                <a:ea typeface="Arial"/>
                <a:cs typeface="Arial"/>
                <a:sym typeface="Arial"/>
              </a:rPr>
              <a:t>Over sixteen years at AIG, MetLife and Gallagher, she built operating models from scratch, led enterprise transformation aligned with DFSA standards, scaled delivery capability across borders, and closed major commercial partnerships in the region. She has been based in Dubai for ten years and understands the market the way only someone who has operated inside it does.</a:t>
            </a:r>
            <a:endParaRPr dirty="0"/>
          </a:p>
          <a:p>
            <a:pPr marL="0" marR="0" lvl="0" indent="0" algn="l" rtl="0">
              <a:spcBef>
                <a:spcPts val="0"/>
              </a:spcBef>
              <a:spcAft>
                <a:spcPts val="0"/>
              </a:spcAft>
              <a:buNone/>
            </a:pPr>
            <a:endParaRPr sz="650" b="0" i="0" u="none" strike="noStrike" cap="none" dirty="0">
              <a:solidFill>
                <a:srgbClr val="1A1A1A"/>
              </a:solidFill>
              <a:latin typeface="Arial"/>
              <a:ea typeface="Arial"/>
              <a:cs typeface="Arial"/>
              <a:sym typeface="Arial"/>
            </a:endParaRPr>
          </a:p>
          <a:p>
            <a:pPr marL="0" marR="0" lvl="0" indent="0" algn="l" rtl="0">
              <a:spcBef>
                <a:spcPts val="0"/>
              </a:spcBef>
              <a:spcAft>
                <a:spcPts val="0"/>
              </a:spcAft>
              <a:buNone/>
            </a:pPr>
            <a:r>
              <a:rPr lang="en-US" sz="650" b="0" i="0" u="none" strike="noStrike" cap="none" dirty="0">
                <a:solidFill>
                  <a:srgbClr val="1A1A1A"/>
                </a:solidFill>
                <a:latin typeface="Arial"/>
                <a:ea typeface="Arial"/>
                <a:cs typeface="Arial"/>
                <a:sym typeface="Arial"/>
              </a:rPr>
              <a:t>She is a Fellow of the Institute and Faculty of </a:t>
            </a:r>
            <a:r>
              <a:rPr lang="en-US" sz="650" b="0" i="0" u="none" strike="noStrike" cap="none" dirty="0" err="1">
                <a:solidFill>
                  <a:srgbClr val="1A1A1A"/>
                </a:solidFill>
                <a:latin typeface="Arial"/>
                <a:ea typeface="Arial"/>
                <a:cs typeface="Arial"/>
                <a:sym typeface="Arial"/>
              </a:rPr>
              <a:t>Actuaries,and</a:t>
            </a:r>
            <a:r>
              <a:rPr lang="en-US" sz="650" b="0" i="0" u="none" strike="noStrike" cap="none" dirty="0">
                <a:solidFill>
                  <a:srgbClr val="1A1A1A"/>
                </a:solidFill>
                <a:latin typeface="Arial"/>
                <a:ea typeface="Arial"/>
                <a:cs typeface="Arial"/>
                <a:sym typeface="Arial"/>
              </a:rPr>
              <a:t> holds an MSc in Mathematics with Distinction from the University of Birmingham.</a:t>
            </a:r>
            <a:endParaRPr dirty="0"/>
          </a:p>
          <a:p>
            <a:pPr marL="0" marR="0" lvl="0" indent="0" algn="l" rtl="0">
              <a:spcBef>
                <a:spcPts val="0"/>
              </a:spcBef>
              <a:spcAft>
                <a:spcPts val="0"/>
              </a:spcAft>
              <a:buNone/>
            </a:pPr>
            <a:endParaRPr sz="650" b="0" i="0" u="none" strike="noStrike" cap="none" dirty="0">
              <a:solidFill>
                <a:srgbClr val="1A1A1A"/>
              </a:solidFill>
              <a:latin typeface="Arial"/>
              <a:ea typeface="Arial"/>
              <a:cs typeface="Arial"/>
              <a:sym typeface="Arial"/>
            </a:endParaRPr>
          </a:p>
          <a:p>
            <a:pPr marL="0" marR="0" lvl="0" indent="0" algn="l" rtl="0">
              <a:spcBef>
                <a:spcPts val="0"/>
              </a:spcBef>
              <a:spcAft>
                <a:spcPts val="0"/>
              </a:spcAft>
              <a:buNone/>
            </a:pPr>
            <a:r>
              <a:rPr lang="en-US" sz="650" b="0" i="0" u="none" strike="noStrike" cap="none" dirty="0">
                <a:solidFill>
                  <a:srgbClr val="1A1A1A"/>
                </a:solidFill>
                <a:latin typeface="Arial"/>
                <a:ea typeface="Arial"/>
                <a:cs typeface="Arial"/>
                <a:sym typeface="Arial"/>
              </a:rPr>
              <a:t>She founded Pivot Prime on one conviction: the people best placed to fix a business are those who have run one.</a:t>
            </a:r>
            <a:endParaRPr dirty="0"/>
          </a:p>
          <a:p>
            <a:pPr marL="0" marR="0" lvl="0" indent="0" algn="l" rtl="0">
              <a:spcBef>
                <a:spcPts val="0"/>
              </a:spcBef>
              <a:spcAft>
                <a:spcPts val="0"/>
              </a:spcAft>
              <a:buNone/>
            </a:pPr>
            <a:endParaRPr sz="650" b="0" i="0" u="none" strike="noStrike" cap="none" dirty="0">
              <a:solidFill>
                <a:srgbClr val="1A1A1A"/>
              </a:solidFill>
              <a:latin typeface="Arial"/>
              <a:ea typeface="Arial"/>
              <a:cs typeface="Arial"/>
              <a:sym typeface="Arial"/>
            </a:endParaRPr>
          </a:p>
          <a:p>
            <a:pPr marL="0" marR="0" lvl="0" indent="0" algn="l" rtl="0">
              <a:spcBef>
                <a:spcPts val="0"/>
              </a:spcBef>
              <a:spcAft>
                <a:spcPts val="0"/>
              </a:spcAft>
              <a:buNone/>
            </a:pPr>
            <a:r>
              <a:rPr lang="en-US" sz="650" b="0" i="0" u="none" strike="noStrike" cap="none" dirty="0">
                <a:solidFill>
                  <a:srgbClr val="1A1A1A"/>
                </a:solidFill>
                <a:latin typeface="Arial"/>
                <a:ea typeface="Arial"/>
                <a:cs typeface="Arial"/>
                <a:sym typeface="Arial"/>
              </a:rPr>
              <a:t>Tags: Fellow, </a:t>
            </a:r>
            <a:r>
              <a:rPr lang="en-US" sz="650" b="0" i="0" u="none" strike="noStrike" cap="none" dirty="0" err="1">
                <a:solidFill>
                  <a:srgbClr val="1A1A1A"/>
                </a:solidFill>
                <a:latin typeface="Arial"/>
                <a:ea typeface="Arial"/>
                <a:cs typeface="Arial"/>
                <a:sym typeface="Arial"/>
              </a:rPr>
              <a:t>IFoA</a:t>
            </a:r>
            <a:r>
              <a:rPr lang="en-US" sz="650" b="0" i="0" u="none" strike="noStrike" cap="none" dirty="0">
                <a:solidFill>
                  <a:srgbClr val="1A1A1A"/>
                </a:solidFill>
                <a:latin typeface="Arial"/>
                <a:ea typeface="Arial"/>
                <a:cs typeface="Arial"/>
                <a:sym typeface="Arial"/>
              </a:rPr>
              <a:t> · Gallagher · AIG · MetLife · UK · Middle East · Africa · 16 years senior leadership.</a:t>
            </a:r>
          </a:p>
          <a:p>
            <a:pPr marL="0" marR="0" lvl="0" indent="0" algn="l" rtl="0">
              <a:spcBef>
                <a:spcPts val="0"/>
              </a:spcBef>
              <a:spcAft>
                <a:spcPts val="0"/>
              </a:spcAft>
              <a:buNone/>
            </a:pPr>
            <a:endParaRPr lang="en-US" sz="650" dirty="0">
              <a:solidFill>
                <a:srgbClr val="1A1A1A"/>
              </a:solidFill>
            </a:endParaRPr>
          </a:p>
          <a:p>
            <a:pPr marL="0" marR="0" lvl="0" indent="0" algn="l" rtl="0">
              <a:spcBef>
                <a:spcPts val="0"/>
              </a:spcBef>
              <a:spcAft>
                <a:spcPts val="0"/>
              </a:spcAft>
              <a:buNone/>
            </a:pPr>
            <a:endParaRPr lang="en-US" sz="650" dirty="0">
              <a:solidFill>
                <a:srgbClr val="1A1A1A"/>
              </a:solidFill>
            </a:endParaRPr>
          </a:p>
          <a:p>
            <a:pPr marL="0" marR="0" lvl="0" indent="0" algn="l" rtl="0">
              <a:spcBef>
                <a:spcPts val="0"/>
              </a:spcBef>
              <a:spcAft>
                <a:spcPts val="0"/>
              </a:spcAft>
              <a:buNone/>
            </a:pPr>
            <a:endParaRPr lang="en-US" sz="650" dirty="0">
              <a:solidFill>
                <a:srgbClr val="1A1A1A"/>
              </a:solidFill>
            </a:endParaRPr>
          </a:p>
          <a:p>
            <a:pPr marL="0" marR="0" lvl="0" indent="0" algn="l" rtl="0">
              <a:spcBef>
                <a:spcPts val="0"/>
              </a:spcBef>
              <a:spcAft>
                <a:spcPts val="0"/>
              </a:spcAft>
              <a:buNone/>
            </a:pPr>
            <a:endParaRPr lang="en-US" sz="650" dirty="0">
              <a:solidFill>
                <a:srgbClr val="1A1A1A"/>
              </a:solidFill>
            </a:endParaRPr>
          </a:p>
          <a:p>
            <a:pPr marL="0" marR="0" lvl="0" indent="0" algn="l" rtl="0">
              <a:spcBef>
                <a:spcPts val="0"/>
              </a:spcBef>
              <a:spcAft>
                <a:spcPts val="0"/>
              </a:spcAft>
              <a:buNone/>
            </a:pPr>
            <a:endParaRPr lang="en-US" sz="650" dirty="0">
              <a:solidFill>
                <a:srgbClr val="1A1A1A"/>
              </a:solidFill>
            </a:endParaRPr>
          </a:p>
          <a:p>
            <a:pPr marL="0" marR="0" lvl="0" indent="0" algn="l" rtl="0">
              <a:spcBef>
                <a:spcPts val="0"/>
              </a:spcBef>
              <a:spcAft>
                <a:spcPts val="0"/>
              </a:spcAft>
              <a:buNone/>
            </a:pPr>
            <a:endParaRPr lang="en-US" sz="650" dirty="0">
              <a:solidFill>
                <a:srgbClr val="1A1A1A"/>
              </a:solidFill>
            </a:endParaRPr>
          </a:p>
          <a:p>
            <a:pPr marL="0" marR="0" lvl="0" indent="0" algn="l" rtl="0">
              <a:spcBef>
                <a:spcPts val="0"/>
              </a:spcBef>
              <a:spcAft>
                <a:spcPts val="0"/>
              </a:spcAft>
              <a:buNone/>
            </a:pPr>
            <a:endParaRPr lang="en-US" sz="650" dirty="0">
              <a:solidFill>
                <a:srgbClr val="1A1A1A"/>
              </a:solidFill>
            </a:endParaRPr>
          </a:p>
          <a:p>
            <a:pPr marL="0" marR="0" lvl="0" indent="0" algn="l" rtl="0">
              <a:spcBef>
                <a:spcPts val="0"/>
              </a:spcBef>
              <a:spcAft>
                <a:spcPts val="0"/>
              </a:spcAft>
              <a:buNone/>
            </a:pPr>
            <a:endParaRPr lang="en-US" sz="650" dirty="0">
              <a:solidFill>
                <a:srgbClr val="1A1A1A"/>
              </a:solidFill>
            </a:endParaRPr>
          </a:p>
          <a:p>
            <a:pPr marL="0" marR="0" lvl="0" indent="0" algn="l" rtl="0">
              <a:spcBef>
                <a:spcPts val="0"/>
              </a:spcBef>
              <a:spcAft>
                <a:spcPts val="0"/>
              </a:spcAft>
              <a:buNone/>
            </a:pPr>
            <a:endParaRPr lang="en-US" sz="650" dirty="0">
              <a:solidFill>
                <a:srgbClr val="1A1A1A"/>
              </a:solidFill>
            </a:endParaRPr>
          </a:p>
          <a:p>
            <a:pPr marL="0" marR="0" lvl="0" indent="0" algn="l" rtl="0">
              <a:spcBef>
                <a:spcPts val="0"/>
              </a:spcBef>
              <a:spcAft>
                <a:spcPts val="0"/>
              </a:spcAft>
              <a:buNone/>
            </a:pPr>
            <a:endParaRPr lang="en-US" sz="650" dirty="0">
              <a:solidFill>
                <a:srgbClr val="1A1A1A"/>
              </a:solidFill>
            </a:endParaRPr>
          </a:p>
          <a:p>
            <a:pPr marL="0" marR="0" lvl="0" indent="0" algn="l" rtl="0">
              <a:spcBef>
                <a:spcPts val="0"/>
              </a:spcBef>
              <a:spcAft>
                <a:spcPts val="0"/>
              </a:spcAft>
              <a:buNone/>
            </a:pPr>
            <a:endParaRPr lang="en-US" sz="650" dirty="0">
              <a:solidFill>
                <a:srgbClr val="1A1A1A"/>
              </a:solidFill>
            </a:endParaRPr>
          </a:p>
          <a:p>
            <a:pPr marL="0" marR="0" lvl="0" indent="0" algn="l" rtl="0">
              <a:spcBef>
                <a:spcPts val="0"/>
              </a:spcBef>
              <a:spcAft>
                <a:spcPts val="0"/>
              </a:spcAft>
              <a:buNone/>
            </a:pPr>
            <a:endParaRPr lang="en-US" sz="650" dirty="0">
              <a:solidFill>
                <a:srgbClr val="1A1A1A"/>
              </a:solidFill>
            </a:endParaRPr>
          </a:p>
          <a:p>
            <a:pPr marL="0" marR="0" lvl="0" indent="0" algn="l" rtl="0">
              <a:spcBef>
                <a:spcPts val="0"/>
              </a:spcBef>
              <a:spcAft>
                <a:spcPts val="0"/>
              </a:spcAft>
              <a:buNone/>
            </a:pPr>
            <a:endParaRPr lang="en-US" sz="650" dirty="0">
              <a:solidFill>
                <a:srgbClr val="1A1A1A"/>
              </a:solidFill>
            </a:endParaRPr>
          </a:p>
          <a:p>
            <a:pPr marL="0" marR="0" lvl="0" indent="0" algn="l" rtl="0">
              <a:spcBef>
                <a:spcPts val="0"/>
              </a:spcBef>
              <a:spcAft>
                <a:spcPts val="0"/>
              </a:spcAft>
              <a:buNone/>
            </a:pPr>
            <a:endParaRPr lang="en-US" sz="650" dirty="0">
              <a:solidFill>
                <a:srgbClr val="1A1A1A"/>
              </a:solidFill>
            </a:endParaRPr>
          </a:p>
          <a:p>
            <a:pPr marL="0" marR="0" lvl="0" indent="0" algn="l" rtl="0">
              <a:spcBef>
                <a:spcPts val="0"/>
              </a:spcBef>
              <a:spcAft>
                <a:spcPts val="0"/>
              </a:spcAft>
              <a:buNone/>
            </a:pPr>
            <a:endParaRPr lang="en-US" sz="650" dirty="0">
              <a:solidFill>
                <a:srgbClr val="1A1A1A"/>
              </a:solidFill>
            </a:endParaRPr>
          </a:p>
          <a:p>
            <a:pPr marL="0" marR="0" lvl="0" indent="0" algn="l" rtl="0">
              <a:spcBef>
                <a:spcPts val="0"/>
              </a:spcBef>
              <a:spcAft>
                <a:spcPts val="0"/>
              </a:spcAft>
              <a:buNone/>
            </a:pPr>
            <a:endParaRPr lang="en-US" sz="650" dirty="0">
              <a:solidFill>
                <a:srgbClr val="1A1A1A"/>
              </a:solidFill>
            </a:endParaRPr>
          </a:p>
          <a:p>
            <a:pPr marL="0" marR="0" lvl="0" indent="0" algn="l" rtl="0">
              <a:spcBef>
                <a:spcPts val="0"/>
              </a:spcBef>
              <a:spcAft>
                <a:spcPts val="0"/>
              </a:spcAft>
              <a:buNone/>
            </a:pPr>
            <a:endParaRPr lang="en-US" sz="650" dirty="0">
              <a:solidFill>
                <a:srgbClr val="1A1A1A"/>
              </a:solidFill>
            </a:endParaRPr>
          </a:p>
          <a:p>
            <a:pPr marL="0" marR="0" lvl="0" indent="0" algn="l" rtl="0">
              <a:spcBef>
                <a:spcPts val="0"/>
              </a:spcBef>
              <a:spcAft>
                <a:spcPts val="0"/>
              </a:spcAft>
              <a:buNone/>
            </a:pPr>
            <a:endParaRPr lang="en-US" sz="650" dirty="0">
              <a:solidFill>
                <a:srgbClr val="1A1A1A"/>
              </a:solidFill>
            </a:endParaRPr>
          </a:p>
          <a:p>
            <a:pPr marL="0" marR="0" lvl="0" indent="0" algn="l" rtl="0">
              <a:spcBef>
                <a:spcPts val="0"/>
              </a:spcBef>
              <a:spcAft>
                <a:spcPts val="0"/>
              </a:spcAft>
              <a:buNone/>
            </a:pPr>
            <a:endParaRPr lang="en-US" sz="650" dirty="0">
              <a:solidFill>
                <a:srgbClr val="1A1A1A"/>
              </a:solidFill>
            </a:endParaRPr>
          </a:p>
          <a:p>
            <a:pPr marL="0" marR="0" lvl="0" indent="0" algn="l" rtl="0">
              <a:spcBef>
                <a:spcPts val="0"/>
              </a:spcBef>
              <a:spcAft>
                <a:spcPts val="0"/>
              </a:spcAft>
              <a:buNone/>
            </a:pPr>
            <a:endParaRPr lang="en-US" sz="650" dirty="0">
              <a:solidFill>
                <a:srgbClr val="1A1A1A"/>
              </a:solidFill>
            </a:endParaRPr>
          </a:p>
          <a:p>
            <a:pPr marL="0" marR="0" lvl="0" indent="0" algn="l" rtl="0">
              <a:spcBef>
                <a:spcPts val="0"/>
              </a:spcBef>
              <a:spcAft>
                <a:spcPts val="0"/>
              </a:spcAft>
              <a:buNone/>
            </a:pPr>
            <a:endParaRPr lang="en-US" sz="650" dirty="0">
              <a:solidFill>
                <a:srgbClr val="1A1A1A"/>
              </a:solidFill>
            </a:endParaRPr>
          </a:p>
          <a:p>
            <a:pPr marL="0" marR="0" lvl="0" indent="0" algn="l" rtl="0">
              <a:spcBef>
                <a:spcPts val="0"/>
              </a:spcBef>
              <a:spcAft>
                <a:spcPts val="0"/>
              </a:spcAft>
              <a:buNone/>
            </a:pPr>
            <a:endParaRPr lang="en-US" sz="650" dirty="0">
              <a:solidFill>
                <a:srgbClr val="1A1A1A"/>
              </a:solidFill>
            </a:endParaRPr>
          </a:p>
          <a:p>
            <a:pPr marL="0" marR="0" lvl="0" indent="0" algn="l" rtl="0">
              <a:spcBef>
                <a:spcPts val="0"/>
              </a:spcBef>
              <a:spcAft>
                <a:spcPts val="0"/>
              </a:spcAft>
              <a:buNone/>
            </a:pPr>
            <a:endParaRPr lang="en-US" sz="650" dirty="0">
              <a:solidFill>
                <a:srgbClr val="1A1A1A"/>
              </a:solidFill>
            </a:endParaRPr>
          </a:p>
          <a:p>
            <a:pPr marL="0" marR="0" lvl="0" indent="0" algn="l" rtl="0">
              <a:spcBef>
                <a:spcPts val="0"/>
              </a:spcBef>
              <a:spcAft>
                <a:spcPts val="0"/>
              </a:spcAft>
              <a:buNone/>
            </a:pPr>
            <a:endParaRPr lang="en-US" sz="650" dirty="0">
              <a:solidFill>
                <a:srgbClr val="1A1A1A"/>
              </a:solidFill>
            </a:endParaRPr>
          </a:p>
          <a:p>
            <a:pPr marL="0" marR="0" lvl="0" indent="0" algn="l" rtl="0">
              <a:spcBef>
                <a:spcPts val="0"/>
              </a:spcBef>
              <a:spcAft>
                <a:spcPts val="0"/>
              </a:spcAft>
              <a:buNone/>
            </a:pPr>
            <a:endParaRPr lang="en-US" sz="650" dirty="0">
              <a:solidFill>
                <a:srgbClr val="1A1A1A"/>
              </a:solidFill>
            </a:endParaRPr>
          </a:p>
          <a:p>
            <a:pPr marL="0" marR="0" lvl="0" indent="0" algn="l" rtl="0">
              <a:spcBef>
                <a:spcPts val="0"/>
              </a:spcBef>
              <a:spcAft>
                <a:spcPts val="0"/>
              </a:spcAft>
              <a:buNone/>
            </a:pPr>
            <a:endParaRPr lang="en-US" sz="650" dirty="0">
              <a:solidFill>
                <a:srgbClr val="1A1A1A"/>
              </a:solidFill>
            </a:endParaRPr>
          </a:p>
          <a:p>
            <a:pPr marL="0" marR="0" lvl="0" indent="0" algn="l" rtl="0">
              <a:spcBef>
                <a:spcPts val="0"/>
              </a:spcBef>
              <a:spcAft>
                <a:spcPts val="0"/>
              </a:spcAft>
              <a:buNone/>
            </a:pPr>
            <a:endParaRPr lang="en-US" sz="650" dirty="0">
              <a:solidFill>
                <a:srgbClr val="1A1A1A"/>
              </a:solidFill>
            </a:endParaRPr>
          </a:p>
          <a:p>
            <a:pPr marL="0" marR="0" lvl="0" indent="0" algn="l" rtl="0">
              <a:spcBef>
                <a:spcPts val="0"/>
              </a:spcBef>
              <a:spcAft>
                <a:spcPts val="0"/>
              </a:spcAft>
              <a:buNone/>
            </a:pPr>
            <a:endParaRPr lang="en-US" sz="650" dirty="0">
              <a:solidFill>
                <a:srgbClr val="1A1A1A"/>
              </a:solidFill>
            </a:endParaRPr>
          </a:p>
          <a:p>
            <a:pPr marL="0" marR="0" lvl="0" indent="0" algn="l" rtl="0">
              <a:spcBef>
                <a:spcPts val="0"/>
              </a:spcBef>
              <a:spcAft>
                <a:spcPts val="0"/>
              </a:spcAft>
              <a:buNone/>
            </a:pPr>
            <a:endParaRPr lang="en-US" sz="650" dirty="0">
              <a:solidFill>
                <a:srgbClr val="1A1A1A"/>
              </a:solidFill>
            </a:endParaRPr>
          </a:p>
          <a:p>
            <a:pPr marL="0" marR="0" lvl="0" indent="0" algn="l" rtl="0">
              <a:spcBef>
                <a:spcPts val="0"/>
              </a:spcBef>
              <a:spcAft>
                <a:spcPts val="0"/>
              </a:spcAft>
              <a:buNone/>
            </a:pPr>
            <a:endParaRPr lang="en-US" sz="650" dirty="0">
              <a:solidFill>
                <a:srgbClr val="1A1A1A"/>
              </a:solidFill>
            </a:endParaRPr>
          </a:p>
          <a:p>
            <a:pPr marL="0" marR="0" lvl="0" indent="0" algn="l" rtl="0">
              <a:spcBef>
                <a:spcPts val="0"/>
              </a:spcBef>
              <a:spcAft>
                <a:spcPts val="0"/>
              </a:spcAft>
              <a:buNone/>
            </a:pPr>
            <a:endParaRPr lang="en-US" sz="650" dirty="0">
              <a:solidFill>
                <a:srgbClr val="1A1A1A"/>
              </a:solidFill>
            </a:endParaRPr>
          </a:p>
          <a:p>
            <a:pPr marL="0" marR="0" lvl="0" indent="0" algn="l" rtl="0">
              <a:spcBef>
                <a:spcPts val="0"/>
              </a:spcBef>
              <a:spcAft>
                <a:spcPts val="0"/>
              </a:spcAft>
              <a:buNone/>
            </a:pPr>
            <a:endParaRPr dirty="0"/>
          </a:p>
        </p:txBody>
      </p:sp>
      <p:sp>
        <p:nvSpPr>
          <p:cNvPr id="990" name="Status post-it"/>
          <p:cNvSpPr txBox="1"/>
          <p:nvPr/>
        </p:nvSpPr>
        <p:spPr>
          <a:xfrm>
            <a:off x="274320" y="4754880"/>
            <a:ext cx="7863840" cy="590931"/>
          </a:xfrm>
          <a:prstGeom prst="rect">
            <a:avLst/>
          </a:prstGeom>
          <a:solidFill>
            <a:srgbClr val="FFC9DC"/>
          </a:solidFill>
          <a:ln w="19050">
            <a:solidFill>
              <a:srgbClr val="D63A6F"/>
            </a:solidFill>
          </a:ln>
          <a:effectLst>
            <a:outerShdw blurRad="50800" dist="25400" dir="2700000" algn="tl" rotWithShape="0">
              <a:srgbClr val="000000">
                <a:alpha val="25000"/>
              </a:srgbClr>
            </a:outerShdw>
          </a:effectLst>
        </p:spPr>
        <p:txBody>
          <a:bodyPr wrap="square" lIns="91440" tIns="64008" rIns="91440" bIns="64008" anchor="t">
            <a:spAutoFit/>
          </a:bodyPr>
          <a:lstStyle/>
          <a:p>
            <a:pPr>
              <a:buNone/>
            </a:pPr>
            <a:r>
              <a:rPr lang="en-GB" sz="900" b="1" dirty="0">
                <a:solidFill>
                  <a:srgbClr val="1A1A1A"/>
                </a:solidFill>
                <a:latin typeface="Arial"/>
                <a:ea typeface="Arial"/>
                <a:cs typeface="Arial"/>
              </a:rPr>
              <a:t>STATUS 30 SEP: PARTLY DONE</a:t>
            </a:r>
          </a:p>
          <a:p>
            <a:pPr marL="114300" indent="-114300">
              <a:spcBef>
                <a:spcPts val="300"/>
              </a:spcBef>
              <a:buFont typeface="Arial"/>
              <a:buChar char="•"/>
            </a:pPr>
            <a:r>
              <a:rPr lang="en-GB" sz="800" b="0" dirty="0">
                <a:solidFill>
                  <a:srgbClr val="1A1A1A"/>
                </a:solidFill>
                <a:latin typeface="Arial"/>
                <a:ea typeface="Arial"/>
                <a:cs typeface="Arial"/>
              </a:rPr>
              <a:t>Done: my new bio text and tags are live on the About page.</a:t>
            </a:r>
          </a:p>
          <a:p>
            <a:pPr marL="114300" indent="-114300">
              <a:spcBef>
                <a:spcPts val="300"/>
              </a:spcBef>
              <a:buFont typeface="Arial"/>
              <a:buChar char="•"/>
            </a:pPr>
            <a:r>
              <a:rPr lang="en-GB" sz="800" b="0" dirty="0">
                <a:solidFill>
                  <a:srgbClr val="1A1A1A"/>
                </a:solidFill>
                <a:latin typeface="Arial"/>
                <a:ea typeface="Arial"/>
                <a:cs typeface="Arial"/>
              </a:rPr>
              <a:t>Still to do: add "Connect with Iram on LinkedIn" with my LinkedIn link under my bio, and the same for Justin, Saif and Khushi. See </a:t>
            </a:r>
            <a:r>
              <a:rPr lang="en-GB" sz="800" b="0">
                <a:solidFill>
                  <a:srgbClr val="1A1A1A"/>
                </a:solidFill>
                <a:latin typeface="Arial"/>
                <a:ea typeface="Arial"/>
                <a:cs typeface="Arial"/>
              </a:rPr>
              <a:t>also next page. </a:t>
            </a:r>
            <a:endParaRPr lang="en-GB" sz="800" b="0" dirty="0">
              <a:solidFill>
                <a:srgbClr val="1A1A1A"/>
              </a:solidFill>
              <a:latin typeface="Arial"/>
              <a:ea typeface="Arial"/>
              <a:cs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2">
          <a:extLst>
            <a:ext uri="{FF2B5EF4-FFF2-40B4-BE49-F238E27FC236}">
              <a16:creationId xmlns:a16="http://schemas.microsoft.com/office/drawing/2014/main" id="{B882AAD9-DEEC-AC9D-8A8D-937B07180A9E}"/>
            </a:ext>
          </a:extLst>
        </p:cNvPr>
        <p:cNvGrpSpPr/>
        <p:nvPr/>
      </p:nvGrpSpPr>
      <p:grpSpPr>
        <a:xfrm>
          <a:off x="0" y="0"/>
          <a:ext cx="0" cy="0"/>
          <a:chOff x="0" y="0"/>
          <a:chExt cx="0" cy="0"/>
        </a:xfrm>
      </p:grpSpPr>
      <p:sp>
        <p:nvSpPr>
          <p:cNvPr id="990" name="Status post-it">
            <a:extLst>
              <a:ext uri="{FF2B5EF4-FFF2-40B4-BE49-F238E27FC236}">
                <a16:creationId xmlns:a16="http://schemas.microsoft.com/office/drawing/2014/main" id="{54D37D10-9F8B-F9AC-E0E1-5965CA8F23DB}"/>
              </a:ext>
            </a:extLst>
          </p:cNvPr>
          <p:cNvSpPr txBox="1"/>
          <p:nvPr/>
        </p:nvSpPr>
        <p:spPr>
          <a:xfrm>
            <a:off x="274320" y="4754880"/>
            <a:ext cx="7863840" cy="752514"/>
          </a:xfrm>
          <a:prstGeom prst="rect">
            <a:avLst/>
          </a:prstGeom>
          <a:solidFill>
            <a:srgbClr val="FFC9DC"/>
          </a:solidFill>
          <a:ln w="19050">
            <a:solidFill>
              <a:srgbClr val="D63A6F"/>
            </a:solidFill>
          </a:ln>
          <a:effectLst>
            <a:outerShdw blurRad="50800" dist="25400" dir="2700000" algn="tl" rotWithShape="0">
              <a:srgbClr val="000000">
                <a:alpha val="25000"/>
              </a:srgbClr>
            </a:outerShdw>
          </a:effectLst>
        </p:spPr>
        <p:txBody>
          <a:bodyPr wrap="square" lIns="91440" tIns="64008" rIns="91440" bIns="64008" anchor="t">
            <a:spAutoFit/>
          </a:bodyPr>
          <a:lstStyle/>
          <a:p>
            <a:pPr>
              <a:buNone/>
            </a:pPr>
            <a:r>
              <a:rPr lang="en-GB" sz="900" b="1" dirty="0">
                <a:solidFill>
                  <a:srgbClr val="1A1A1A"/>
                </a:solidFill>
                <a:latin typeface="Arial"/>
                <a:ea typeface="Arial"/>
                <a:cs typeface="Arial"/>
              </a:rPr>
              <a:t>STATUS 30 SEP: NEW ADDITION</a:t>
            </a:r>
          </a:p>
          <a:p>
            <a:pPr marL="114300" indent="-114300">
              <a:spcBef>
                <a:spcPts val="300"/>
              </a:spcBef>
              <a:buFont typeface="Arial"/>
              <a:buChar char="•"/>
            </a:pPr>
            <a:r>
              <a:rPr lang="en-GB" sz="800" b="0" dirty="0">
                <a:solidFill>
                  <a:srgbClr val="1A1A1A"/>
                </a:solidFill>
                <a:latin typeface="Arial"/>
                <a:ea typeface="Arial"/>
                <a:cs typeface="Arial"/>
              </a:rPr>
              <a:t>We have to add Nisha to the website – her bio and details are attached</a:t>
            </a:r>
          </a:p>
          <a:p>
            <a:pPr marL="114300" indent="-114300">
              <a:spcBef>
                <a:spcPts val="300"/>
              </a:spcBef>
              <a:buFont typeface="Arial"/>
              <a:buChar char="•"/>
            </a:pPr>
            <a:r>
              <a:rPr lang="en-GB" sz="800" b="0" dirty="0" err="1">
                <a:solidFill>
                  <a:srgbClr val="1A1A1A"/>
                </a:solidFill>
                <a:latin typeface="Arial"/>
                <a:ea typeface="Arial"/>
                <a:cs typeface="Arial"/>
              </a:rPr>
              <a:t>Everyones</a:t>
            </a:r>
            <a:r>
              <a:rPr lang="en-GB" sz="800" b="0" dirty="0">
                <a:solidFill>
                  <a:srgbClr val="1A1A1A"/>
                </a:solidFill>
                <a:latin typeface="Arial"/>
                <a:ea typeface="Arial"/>
                <a:cs typeface="Arial"/>
              </a:rPr>
              <a:t> bio sections to be updated a bit see attached html</a:t>
            </a:r>
          </a:p>
          <a:p>
            <a:pPr marL="114300" indent="-114300">
              <a:spcBef>
                <a:spcPts val="300"/>
              </a:spcBef>
              <a:buFont typeface="Arial"/>
              <a:buChar char="•"/>
            </a:pPr>
            <a:r>
              <a:rPr lang="en-GB" sz="800" dirty="0">
                <a:solidFill>
                  <a:srgbClr val="1A1A1A"/>
                </a:solidFill>
              </a:rPr>
              <a:t>Add everyone’s linked in to the bottom of their bios</a:t>
            </a:r>
            <a:endParaRPr lang="en-GB" sz="800" b="0" dirty="0">
              <a:solidFill>
                <a:srgbClr val="1A1A1A"/>
              </a:solidFill>
              <a:latin typeface="Arial"/>
              <a:ea typeface="Arial"/>
              <a:cs typeface="Arial"/>
            </a:endParaRPr>
          </a:p>
        </p:txBody>
      </p:sp>
      <p:pic>
        <p:nvPicPr>
          <p:cNvPr id="3" name="Picture 2" descr="The image depicts a webpage layout for a consulting firm, PivotPrime, offering various services such as finance, technology, and content management, with profiles of three professionals: Justin Ford, Saif Ur Rehman, and Khushi Popat.&#10;&#10;AI-generated content may be incorrect.">
            <a:extLst>
              <a:ext uri="{FF2B5EF4-FFF2-40B4-BE49-F238E27FC236}">
                <a16:creationId xmlns:a16="http://schemas.microsoft.com/office/drawing/2014/main" id="{46867AD6-273B-A96B-7B29-E89BCA078EE9}"/>
              </a:ext>
            </a:extLst>
          </p:cNvPr>
          <p:cNvPicPr>
            <a:picLocks noChangeAspect="1"/>
          </p:cNvPicPr>
          <p:nvPr/>
        </p:nvPicPr>
        <p:blipFill>
          <a:blip r:embed="rId3"/>
          <a:stretch>
            <a:fillRect/>
          </a:stretch>
        </p:blipFill>
        <p:spPr>
          <a:xfrm>
            <a:off x="665655" y="631371"/>
            <a:ext cx="4023547" cy="2416629"/>
          </a:xfrm>
          <a:prstGeom prst="rect">
            <a:avLst/>
          </a:prstGeom>
        </p:spPr>
      </p:pic>
      <p:pic>
        <p:nvPicPr>
          <p:cNvPr id="5" name="Picture 4" descr="The image displays three professionals: Justin Ford, Nisha Barot, and Saif Ur Rehman, all of whom are leaders in their respective fields, with their profiles and achievements highlighted.&#10;&#10;AI-generated content may be incorrect.">
            <a:extLst>
              <a:ext uri="{FF2B5EF4-FFF2-40B4-BE49-F238E27FC236}">
                <a16:creationId xmlns:a16="http://schemas.microsoft.com/office/drawing/2014/main" id="{5952A020-2521-16EF-5DD8-AC3909079F0D}"/>
              </a:ext>
            </a:extLst>
          </p:cNvPr>
          <p:cNvPicPr>
            <a:picLocks noChangeAspect="1"/>
          </p:cNvPicPr>
          <p:nvPr/>
        </p:nvPicPr>
        <p:blipFill>
          <a:blip r:embed="rId4"/>
          <a:stretch>
            <a:fillRect/>
          </a:stretch>
        </p:blipFill>
        <p:spPr>
          <a:xfrm>
            <a:off x="5818415" y="388818"/>
            <a:ext cx="5323624" cy="3579026"/>
          </a:xfrm>
          <a:prstGeom prst="rect">
            <a:avLst/>
          </a:prstGeom>
        </p:spPr>
      </p:pic>
      <p:pic>
        <p:nvPicPr>
          <p:cNvPr id="7" name="Picture 6" descr="The image depicts Khushi Popat, a digital storyteller and social media strategist, with a background in building brands and managing social media campaigns for various notable clients.&#10;&#10;AI-generated content may be incorrect.">
            <a:extLst>
              <a:ext uri="{FF2B5EF4-FFF2-40B4-BE49-F238E27FC236}">
                <a16:creationId xmlns:a16="http://schemas.microsoft.com/office/drawing/2014/main" id="{05149ED3-8399-0EE1-1A80-3F54194D4B1C}"/>
              </a:ext>
            </a:extLst>
          </p:cNvPr>
          <p:cNvPicPr>
            <a:picLocks noChangeAspect="1"/>
          </p:cNvPicPr>
          <p:nvPr/>
        </p:nvPicPr>
        <p:blipFill>
          <a:blip r:embed="rId5"/>
          <a:stretch>
            <a:fillRect/>
          </a:stretch>
        </p:blipFill>
        <p:spPr>
          <a:xfrm>
            <a:off x="5942000" y="4131129"/>
            <a:ext cx="5076454" cy="2626878"/>
          </a:xfrm>
          <a:prstGeom prst="rect">
            <a:avLst/>
          </a:prstGeom>
        </p:spPr>
      </p:pic>
    </p:spTree>
    <p:extLst>
      <p:ext uri="{BB962C8B-B14F-4D97-AF65-F5344CB8AC3E}">
        <p14:creationId xmlns:p14="http://schemas.microsoft.com/office/powerpoint/2010/main" val="28845753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pic>
        <p:nvPicPr>
          <p:cNvPr id="129" name="Google Shape;129;p20" descr="The image describes a childcare app named Nurture, which provides real-time care logs, instant messaging with translation, role-based access, and developmental guides for a multilingual household in the UAE.&#10;&#10;AI-generated content may be incorrect."/>
          <p:cNvPicPr preferRelativeResize="0"/>
          <p:nvPr/>
        </p:nvPicPr>
        <p:blipFill rotWithShape="1">
          <a:blip r:embed="rId3">
            <a:alphaModFix/>
          </a:blip>
          <a:srcRect/>
          <a:stretch/>
        </p:blipFill>
        <p:spPr>
          <a:xfrm>
            <a:off x="462642" y="575479"/>
            <a:ext cx="9176657" cy="4852100"/>
          </a:xfrm>
          <a:prstGeom prst="rect">
            <a:avLst/>
          </a:prstGeom>
          <a:noFill/>
          <a:ln>
            <a:noFill/>
          </a:ln>
        </p:spPr>
      </p:pic>
      <p:sp>
        <p:nvSpPr>
          <p:cNvPr id="990" name="Status post-it"/>
          <p:cNvSpPr txBox="1"/>
          <p:nvPr/>
        </p:nvSpPr>
        <p:spPr>
          <a:xfrm>
            <a:off x="457200" y="5504688"/>
            <a:ext cx="8778240" cy="429348"/>
          </a:xfrm>
          <a:prstGeom prst="rect">
            <a:avLst/>
          </a:prstGeom>
          <a:solidFill>
            <a:srgbClr val="FFC9DC"/>
          </a:solidFill>
          <a:ln w="19050">
            <a:solidFill>
              <a:srgbClr val="D63A6F"/>
            </a:solidFill>
          </a:ln>
          <a:effectLst>
            <a:outerShdw blurRad="50800" dist="25400" dir="2700000" algn="tl" rotWithShape="0">
              <a:srgbClr val="000000">
                <a:alpha val="25000"/>
              </a:srgbClr>
            </a:outerShdw>
          </a:effectLst>
        </p:spPr>
        <p:txBody>
          <a:bodyPr wrap="square" lIns="91440" tIns="64008" rIns="91440" bIns="64008" anchor="t">
            <a:spAutoFit/>
          </a:bodyPr>
          <a:lstStyle/>
          <a:p>
            <a:pPr>
              <a:buNone/>
            </a:pPr>
            <a:r>
              <a:rPr lang="en-GB" sz="900" b="1" dirty="0">
                <a:solidFill>
                  <a:srgbClr val="1A1A1A"/>
                </a:solidFill>
                <a:latin typeface="Arial"/>
                <a:ea typeface="Arial"/>
                <a:cs typeface="Arial"/>
              </a:rPr>
              <a:t>STATUS 30 SEP: PARTLY DONE</a:t>
            </a:r>
          </a:p>
          <a:p>
            <a:pPr marL="114300" indent="-114300">
              <a:spcBef>
                <a:spcPts val="300"/>
              </a:spcBef>
              <a:buFont typeface="Arial"/>
              <a:buChar char="•"/>
            </a:pPr>
            <a:r>
              <a:rPr lang="en-GB" sz="800" b="0" dirty="0">
                <a:solidFill>
                  <a:srgbClr val="1A1A1A"/>
                </a:solidFill>
                <a:latin typeface="Arial"/>
                <a:ea typeface="Arial"/>
                <a:cs typeface="Arial"/>
              </a:rPr>
              <a:t>Still to do: the Nurture screenshot still says "Good morning, Test App". Replace it with a live screenshot showing a real name.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pic>
        <p:nvPicPr>
          <p:cNvPr id="178" name="Google Shape;178;p28" descr="PivotPrime ￂﾷ FREE DIAGNOSTIC&#10;&#10;AI-generated content may be incorrect."/>
          <p:cNvPicPr preferRelativeResize="0"/>
          <p:nvPr/>
        </p:nvPicPr>
        <p:blipFill rotWithShape="1">
          <a:blip r:embed="rId3">
            <a:alphaModFix/>
          </a:blip>
          <a:srcRect/>
          <a:stretch/>
        </p:blipFill>
        <p:spPr>
          <a:xfrm>
            <a:off x="495298" y="525745"/>
            <a:ext cx="7320643" cy="4112778"/>
          </a:xfrm>
          <a:prstGeom prst="rect">
            <a:avLst/>
          </a:prstGeom>
          <a:noFill/>
          <a:ln>
            <a:noFill/>
          </a:ln>
        </p:spPr>
      </p:pic>
      <p:pic>
        <p:nvPicPr>
          <p:cNvPr id="179" name="Google Shape;179;p28"/>
          <p:cNvPicPr preferRelativeResize="0"/>
          <p:nvPr/>
        </p:nvPicPr>
        <p:blipFill rotWithShape="1">
          <a:blip r:embed="rId4">
            <a:alphaModFix/>
          </a:blip>
          <a:srcRect/>
          <a:stretch/>
        </p:blipFill>
        <p:spPr>
          <a:xfrm>
            <a:off x="4331892" y="614565"/>
            <a:ext cx="4919790" cy="5628870"/>
          </a:xfrm>
          <a:prstGeom prst="rect">
            <a:avLst/>
          </a:prstGeom>
          <a:noFill/>
          <a:ln>
            <a:noFill/>
          </a:ln>
        </p:spPr>
      </p:pic>
      <p:sp>
        <p:nvSpPr>
          <p:cNvPr id="180" name="Google Shape;180;p28"/>
          <p:cNvSpPr txBox="1"/>
          <p:nvPr/>
        </p:nvSpPr>
        <p:spPr>
          <a:xfrm>
            <a:off x="8388096" y="342900"/>
            <a:ext cx="3657600" cy="1369565"/>
          </a:xfrm>
          <a:prstGeom prst="rect">
            <a:avLst/>
          </a:prstGeom>
          <a:solidFill>
            <a:srgbClr val="FFFACC"/>
          </a:solidFill>
          <a:ln w="19050" cap="flat" cmpd="sng">
            <a:solidFill>
              <a:srgbClr val="D4A017"/>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dirty="0">
                <a:solidFill>
                  <a:srgbClr val="1A1A1A"/>
                </a:solidFill>
                <a:latin typeface="Arial"/>
                <a:ea typeface="Arial"/>
                <a:cs typeface="Arial"/>
                <a:sym typeface="Arial"/>
              </a:rPr>
              <a:t>DEVELOPER NOTES</a:t>
            </a:r>
            <a:endParaRPr dirty="0"/>
          </a:p>
          <a:p>
            <a:pPr marL="0" marR="0" lvl="0" indent="0" algn="l" rtl="0">
              <a:spcBef>
                <a:spcPts val="0"/>
              </a:spcBef>
              <a:spcAft>
                <a:spcPts val="0"/>
              </a:spcAft>
              <a:buNone/>
            </a:pPr>
            <a:r>
              <a:rPr lang="en-US" sz="750" b="1" dirty="0">
                <a:solidFill>
                  <a:srgbClr val="1A1A1A"/>
                </a:solidFill>
                <a:latin typeface="Arial"/>
                <a:ea typeface="Arial"/>
                <a:cs typeface="Arial"/>
                <a:sym typeface="Arial"/>
              </a:rPr>
              <a:t>[1] FREE DIAGNO</a:t>
            </a:r>
            <a:r>
              <a:rPr lang="en-US" sz="750" b="1" dirty="0">
                <a:solidFill>
                  <a:srgbClr val="1A1A1A"/>
                </a:solidFill>
              </a:rPr>
              <a:t>S</a:t>
            </a:r>
            <a:r>
              <a:rPr lang="en-US" sz="750" b="1" dirty="0">
                <a:solidFill>
                  <a:srgbClr val="1A1A1A"/>
                </a:solidFill>
                <a:latin typeface="Arial"/>
                <a:ea typeface="Arial"/>
                <a:cs typeface="Arial"/>
                <a:sym typeface="Arial"/>
              </a:rPr>
              <a:t>TIC, SLIGHTLY BIGGER, OR HIGHLIGHTED,</a:t>
            </a:r>
            <a:endParaRPr dirty="0"/>
          </a:p>
          <a:p>
            <a:pPr marL="0" marR="0" lvl="0" indent="0" algn="l" rtl="0">
              <a:spcBef>
                <a:spcPts val="0"/>
              </a:spcBef>
              <a:spcAft>
                <a:spcPts val="0"/>
              </a:spcAft>
              <a:buNone/>
            </a:pPr>
            <a:endParaRPr sz="750" b="1" dirty="0">
              <a:solidFill>
                <a:srgbClr val="1A1A1A"/>
              </a:solidFill>
              <a:latin typeface="Arial"/>
              <a:ea typeface="Arial"/>
              <a:cs typeface="Arial"/>
              <a:sym typeface="Arial"/>
            </a:endParaRPr>
          </a:p>
          <a:p>
            <a:pPr marL="0" marR="0" lvl="0" indent="0" algn="l" rtl="0">
              <a:spcBef>
                <a:spcPts val="0"/>
              </a:spcBef>
              <a:spcAft>
                <a:spcPts val="0"/>
              </a:spcAft>
              <a:buNone/>
            </a:pPr>
            <a:r>
              <a:rPr lang="en-US" sz="750" b="1" dirty="0">
                <a:solidFill>
                  <a:srgbClr val="1A1A1A"/>
                </a:solidFill>
                <a:latin typeface="Arial"/>
                <a:ea typeface="Arial"/>
                <a:cs typeface="Arial"/>
                <a:sym typeface="Arial"/>
              </a:rPr>
              <a:t>[2] Main page to look like second pic shown here, remove all the stretched founder stuff </a:t>
            </a:r>
            <a:r>
              <a:rPr lang="en-US" sz="750" b="1" dirty="0" err="1">
                <a:solidFill>
                  <a:srgbClr val="1A1A1A"/>
                </a:solidFill>
                <a:latin typeface="Arial"/>
                <a:ea typeface="Arial"/>
                <a:cs typeface="Arial"/>
                <a:sym typeface="Arial"/>
              </a:rPr>
              <a:t>etc</a:t>
            </a:r>
            <a:r>
              <a:rPr lang="en-US" sz="750" b="1" dirty="0">
                <a:solidFill>
                  <a:srgbClr val="1A1A1A"/>
                </a:solidFill>
                <a:latin typeface="Arial"/>
                <a:ea typeface="Arial"/>
                <a:cs typeface="Arial"/>
                <a:sym typeface="Arial"/>
              </a:rPr>
              <a:t>, and have the lighter background</a:t>
            </a:r>
            <a:r>
              <a:rPr lang="en-US" sz="750" b="1" dirty="0">
                <a:solidFill>
                  <a:srgbClr val="1A1A1A"/>
                </a:solidFill>
              </a:rPr>
              <a:t> similar to most of the website.</a:t>
            </a:r>
            <a:endParaRPr lang="en-US" sz="750" b="1" dirty="0">
              <a:solidFill>
                <a:srgbClr val="1A1A1A"/>
              </a:solidFill>
              <a:latin typeface="Arial"/>
              <a:ea typeface="Arial"/>
              <a:cs typeface="Arial"/>
              <a:sym typeface="Arial"/>
            </a:endParaRPr>
          </a:p>
          <a:p>
            <a:pPr marL="0" marR="0" lvl="0" indent="0" algn="l" rtl="0">
              <a:spcBef>
                <a:spcPts val="0"/>
              </a:spcBef>
              <a:spcAft>
                <a:spcPts val="0"/>
              </a:spcAft>
              <a:buNone/>
            </a:pPr>
            <a:endParaRPr lang="en-US" sz="750" b="1" dirty="0">
              <a:solidFill>
                <a:srgbClr val="1A1A1A"/>
              </a:solidFill>
            </a:endParaRPr>
          </a:p>
          <a:p>
            <a:pPr marL="0" marR="0" lvl="0" indent="0" algn="l" rtl="0">
              <a:spcBef>
                <a:spcPts val="0"/>
              </a:spcBef>
              <a:spcAft>
                <a:spcPts val="0"/>
              </a:spcAft>
              <a:buNone/>
            </a:pPr>
            <a:r>
              <a:rPr lang="en-US" sz="750" b="1" dirty="0">
                <a:solidFill>
                  <a:srgbClr val="1A1A1A"/>
                </a:solidFill>
              </a:rPr>
              <a:t>Keep wording as shown in this picture </a:t>
            </a:r>
          </a:p>
          <a:p>
            <a:pPr marL="0" marR="0" lvl="0" indent="0" algn="l" rtl="0">
              <a:spcBef>
                <a:spcPts val="0"/>
              </a:spcBef>
              <a:spcAft>
                <a:spcPts val="0"/>
              </a:spcAft>
              <a:buNone/>
            </a:pPr>
            <a:endParaRPr lang="en-US" sz="750" b="1" dirty="0">
              <a:solidFill>
                <a:srgbClr val="1A1A1A"/>
              </a:solidFill>
            </a:endParaRPr>
          </a:p>
          <a:p>
            <a:pPr marL="0" marR="0" lvl="0" indent="0" algn="l" rtl="0">
              <a:spcBef>
                <a:spcPts val="0"/>
              </a:spcBef>
              <a:spcAft>
                <a:spcPts val="0"/>
              </a:spcAft>
              <a:buNone/>
            </a:pPr>
            <a:r>
              <a:rPr lang="en-US" sz="750" b="1" dirty="0">
                <a:solidFill>
                  <a:srgbClr val="1A1A1A"/>
                </a:solidFill>
              </a:rPr>
              <a:t>[3], start the diagnostic button to be rectangular like all other buttons and example shown below</a:t>
            </a:r>
            <a:endParaRPr dirty="0"/>
          </a:p>
        </p:txBody>
      </p:sp>
      <p:pic>
        <p:nvPicPr>
          <p:cNvPr id="3" name="Picture 2" descr="Find out what is holding your business back.&#10;&#10;AI-generated content may be incorrect.">
            <a:extLst>
              <a:ext uri="{FF2B5EF4-FFF2-40B4-BE49-F238E27FC236}">
                <a16:creationId xmlns:a16="http://schemas.microsoft.com/office/drawing/2014/main" id="{590C0291-C387-4335-38F0-B6AAD71894A3}"/>
              </a:ext>
            </a:extLst>
          </p:cNvPr>
          <p:cNvPicPr>
            <a:picLocks noChangeAspect="1"/>
          </p:cNvPicPr>
          <p:nvPr/>
        </p:nvPicPr>
        <p:blipFill>
          <a:blip r:embed="rId5"/>
          <a:stretch>
            <a:fillRect/>
          </a:stretch>
        </p:blipFill>
        <p:spPr>
          <a:xfrm>
            <a:off x="9796638" y="3267074"/>
            <a:ext cx="1971689" cy="323852"/>
          </a:xfrm>
          <a:prstGeom prst="rect">
            <a:avLst/>
          </a:prstGeom>
        </p:spPr>
      </p:pic>
      <p:sp>
        <p:nvSpPr>
          <p:cNvPr id="990" name="Status post-it"/>
          <p:cNvSpPr txBox="1"/>
          <p:nvPr/>
        </p:nvSpPr>
        <p:spPr>
          <a:xfrm>
            <a:off x="9326880" y="3749039"/>
            <a:ext cx="2743200" cy="1244956"/>
          </a:xfrm>
          <a:prstGeom prst="rect">
            <a:avLst/>
          </a:prstGeom>
          <a:solidFill>
            <a:srgbClr val="FFC9DC"/>
          </a:solidFill>
          <a:ln w="19050">
            <a:solidFill>
              <a:srgbClr val="D63A6F"/>
            </a:solidFill>
          </a:ln>
          <a:effectLst>
            <a:outerShdw blurRad="50800" dist="25400" dir="2700000" algn="tl" rotWithShape="0">
              <a:srgbClr val="000000">
                <a:alpha val="25000"/>
              </a:srgbClr>
            </a:outerShdw>
          </a:effectLst>
        </p:spPr>
        <p:txBody>
          <a:bodyPr wrap="square" lIns="91440" tIns="64008" rIns="91440" bIns="64008" anchor="t">
            <a:spAutoFit/>
          </a:bodyPr>
          <a:lstStyle/>
          <a:p>
            <a:pPr>
              <a:buNone/>
            </a:pPr>
            <a:r>
              <a:rPr lang="en-GB" sz="900" b="1" dirty="0">
                <a:solidFill>
                  <a:srgbClr val="1A1A1A"/>
                </a:solidFill>
                <a:latin typeface="Arial"/>
                <a:ea typeface="Arial"/>
                <a:cs typeface="Arial"/>
              </a:rPr>
              <a:t>STATUS 30 SEP: NOT DONE YET</a:t>
            </a:r>
          </a:p>
          <a:p>
            <a:pPr marL="114300" indent="-114300">
              <a:spcBef>
                <a:spcPts val="300"/>
              </a:spcBef>
              <a:buFont typeface="Arial"/>
              <a:buChar char="•"/>
            </a:pPr>
            <a:r>
              <a:rPr lang="en-GB" sz="800" b="0" dirty="0">
                <a:solidFill>
                  <a:srgbClr val="1A1A1A"/>
                </a:solidFill>
                <a:latin typeface="Arial"/>
                <a:ea typeface="Arial"/>
                <a:cs typeface="Arial"/>
              </a:rPr>
              <a:t>The "Free diagnostic" label is still small. Make it bigger or highlighted.</a:t>
            </a:r>
          </a:p>
          <a:p>
            <a:pPr marL="114300" indent="-114300">
              <a:spcBef>
                <a:spcPts val="300"/>
              </a:spcBef>
              <a:buFont typeface="Arial"/>
              <a:buChar char="•"/>
            </a:pPr>
            <a:r>
              <a:rPr lang="en-GB" sz="800" b="0" dirty="0">
                <a:solidFill>
                  <a:srgbClr val="1A1A1A"/>
                </a:solidFill>
                <a:latin typeface="Arial"/>
                <a:ea typeface="Arial"/>
                <a:cs typeface="Arial"/>
              </a:rPr>
              <a:t>The page is still dark green with the old headline. Use the lighter background and the wording in the second picture.</a:t>
            </a:r>
          </a:p>
          <a:p>
            <a:pPr marL="114300" indent="-114300">
              <a:spcBef>
                <a:spcPts val="300"/>
              </a:spcBef>
              <a:buFont typeface="Arial"/>
              <a:buChar char="•"/>
            </a:pPr>
            <a:r>
              <a:rPr lang="en-GB" sz="800" b="0" dirty="0">
                <a:solidFill>
                  <a:srgbClr val="1A1A1A"/>
                </a:solidFill>
                <a:latin typeface="Arial"/>
                <a:ea typeface="Arial"/>
                <a:cs typeface="Arial"/>
              </a:rPr>
              <a:t>"Start the diagnostic" is still a round pill. Make it rectangular like the other buttons.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pic>
        <p:nvPicPr>
          <p:cNvPr id="193" name="Google Shape;193;p30"/>
          <p:cNvPicPr preferRelativeResize="0"/>
          <p:nvPr/>
        </p:nvPicPr>
        <p:blipFill rotWithShape="1">
          <a:blip r:embed="rId3">
            <a:alphaModFix/>
          </a:blip>
          <a:srcRect/>
          <a:stretch/>
        </p:blipFill>
        <p:spPr>
          <a:xfrm>
            <a:off x="208657" y="391885"/>
            <a:ext cx="6205100" cy="3390917"/>
          </a:xfrm>
          <a:prstGeom prst="rect">
            <a:avLst/>
          </a:prstGeom>
          <a:noFill/>
          <a:ln>
            <a:noFill/>
          </a:ln>
        </p:spPr>
      </p:pic>
      <p:pic>
        <p:nvPicPr>
          <p:cNvPr id="194" name="Google Shape;194;p30"/>
          <p:cNvPicPr preferRelativeResize="0"/>
          <p:nvPr/>
        </p:nvPicPr>
        <p:blipFill rotWithShape="1">
          <a:blip r:embed="rId4">
            <a:alphaModFix/>
          </a:blip>
          <a:srcRect/>
          <a:stretch/>
        </p:blipFill>
        <p:spPr>
          <a:xfrm>
            <a:off x="6828004" y="696685"/>
            <a:ext cx="4422409" cy="2693551"/>
          </a:xfrm>
          <a:prstGeom prst="rect">
            <a:avLst/>
          </a:prstGeom>
          <a:noFill/>
          <a:ln>
            <a:noFill/>
          </a:ln>
        </p:spPr>
      </p:pic>
      <p:pic>
        <p:nvPicPr>
          <p:cNvPr id="195" name="Google Shape;195;p30"/>
          <p:cNvPicPr preferRelativeResize="0"/>
          <p:nvPr/>
        </p:nvPicPr>
        <p:blipFill rotWithShape="1">
          <a:blip r:embed="rId5">
            <a:alphaModFix/>
          </a:blip>
          <a:srcRect/>
          <a:stretch/>
        </p:blipFill>
        <p:spPr>
          <a:xfrm>
            <a:off x="5357812" y="3782802"/>
            <a:ext cx="6129368" cy="2828939"/>
          </a:xfrm>
          <a:prstGeom prst="rect">
            <a:avLst/>
          </a:prstGeom>
          <a:noFill/>
          <a:ln>
            <a:noFill/>
          </a:ln>
        </p:spPr>
      </p:pic>
      <p:sp>
        <p:nvSpPr>
          <p:cNvPr id="196" name="Google Shape;196;p30"/>
          <p:cNvSpPr txBox="1"/>
          <p:nvPr/>
        </p:nvSpPr>
        <p:spPr>
          <a:xfrm>
            <a:off x="8388096" y="342900"/>
            <a:ext cx="3657600" cy="792484"/>
          </a:xfrm>
          <a:prstGeom prst="rect">
            <a:avLst/>
          </a:prstGeom>
          <a:solidFill>
            <a:srgbClr val="FFFACC"/>
          </a:solidFill>
          <a:ln w="19050" cap="flat" cmpd="sng">
            <a:solidFill>
              <a:srgbClr val="D4A017"/>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dirty="0">
                <a:solidFill>
                  <a:srgbClr val="1A1A1A"/>
                </a:solidFill>
                <a:latin typeface="Arial"/>
                <a:ea typeface="Arial"/>
                <a:cs typeface="Arial"/>
                <a:sym typeface="Arial"/>
              </a:rPr>
              <a:t>DEVELOPER NOTES</a:t>
            </a:r>
            <a:endParaRPr dirty="0"/>
          </a:p>
          <a:p>
            <a:pPr marL="0" marR="0" lvl="0" indent="0" algn="l" rtl="0">
              <a:spcBef>
                <a:spcPts val="0"/>
              </a:spcBef>
              <a:spcAft>
                <a:spcPts val="0"/>
              </a:spcAft>
              <a:buNone/>
            </a:pPr>
            <a:r>
              <a:rPr lang="en-US" sz="750" b="1" dirty="0">
                <a:solidFill>
                  <a:srgbClr val="1A1A1A"/>
                </a:solidFill>
                <a:latin typeface="Arial"/>
                <a:ea typeface="Arial"/>
                <a:cs typeface="Arial"/>
                <a:sym typeface="Arial"/>
              </a:rPr>
              <a:t>[1] I have to read all the different versions of advice we give, can you share</a:t>
            </a:r>
          </a:p>
          <a:p>
            <a:pPr marL="0" marR="0" lvl="0" indent="0" algn="l" rtl="0">
              <a:spcBef>
                <a:spcPts val="0"/>
              </a:spcBef>
              <a:spcAft>
                <a:spcPts val="0"/>
              </a:spcAft>
              <a:buNone/>
            </a:pPr>
            <a:endParaRPr lang="en-US" sz="750" b="1" dirty="0">
              <a:solidFill>
                <a:srgbClr val="1A1A1A"/>
              </a:solidFill>
            </a:endParaRPr>
          </a:p>
          <a:p>
            <a:pPr lvl="0"/>
            <a:r>
              <a:rPr lang="en-US" sz="750" b="1" dirty="0">
                <a:solidFill>
                  <a:srgbClr val="1A1A1A"/>
                </a:solidFill>
              </a:rPr>
              <a:t>The data all shown here, it will all pop up on screen when they enter their email address in, and look basically like this - https://claude.ai/code/artifact/e38bc4c5-1a88-4015-bed0-0016d663ae84</a:t>
            </a:r>
            <a:endParaRPr dirty="0"/>
          </a:p>
        </p:txBody>
      </p:sp>
      <p:sp>
        <p:nvSpPr>
          <p:cNvPr id="990" name="Status post-it"/>
          <p:cNvSpPr txBox="1"/>
          <p:nvPr/>
        </p:nvSpPr>
        <p:spPr>
          <a:xfrm>
            <a:off x="274320" y="4023360"/>
            <a:ext cx="4937760" cy="590931"/>
          </a:xfrm>
          <a:prstGeom prst="rect">
            <a:avLst/>
          </a:prstGeom>
          <a:solidFill>
            <a:srgbClr val="FFC9DC"/>
          </a:solidFill>
          <a:ln w="19050">
            <a:solidFill>
              <a:srgbClr val="D63A6F"/>
            </a:solidFill>
          </a:ln>
          <a:effectLst>
            <a:outerShdw blurRad="50800" dist="25400" dir="2700000" algn="tl" rotWithShape="0">
              <a:srgbClr val="000000">
                <a:alpha val="25000"/>
              </a:srgbClr>
            </a:outerShdw>
          </a:effectLst>
        </p:spPr>
        <p:txBody>
          <a:bodyPr wrap="square" lIns="91440" tIns="64008" rIns="91440" bIns="64008" anchor="t">
            <a:spAutoFit/>
          </a:bodyPr>
          <a:lstStyle/>
          <a:p>
            <a:pPr>
              <a:buNone/>
            </a:pPr>
            <a:r>
              <a:rPr lang="en-GB" sz="900" b="1" dirty="0">
                <a:solidFill>
                  <a:srgbClr val="1A1A1A"/>
                </a:solidFill>
                <a:latin typeface="Arial"/>
                <a:ea typeface="Arial"/>
                <a:cs typeface="Arial"/>
              </a:rPr>
              <a:t>STATUS 30 SEP: TO CONFIRM</a:t>
            </a:r>
          </a:p>
          <a:p>
            <a:pPr marL="114300" indent="-114300">
              <a:spcBef>
                <a:spcPts val="300"/>
              </a:spcBef>
              <a:buFont typeface="Arial"/>
              <a:buChar char="•"/>
            </a:pPr>
            <a:r>
              <a:rPr lang="en-GB" sz="800" b="0" dirty="0">
                <a:solidFill>
                  <a:srgbClr val="1A1A1A"/>
                </a:solidFill>
                <a:latin typeface="Arial"/>
                <a:ea typeface="Arial"/>
                <a:cs typeface="Arial"/>
              </a:rPr>
              <a:t>Please send me all the versions of the advice text.</a:t>
            </a:r>
          </a:p>
          <a:p>
            <a:pPr marL="114300" indent="-114300">
              <a:spcBef>
                <a:spcPts val="300"/>
              </a:spcBef>
              <a:buFont typeface="Arial"/>
              <a:buChar char="•"/>
            </a:pPr>
            <a:r>
              <a:rPr lang="en-GB" sz="800" b="0" dirty="0">
                <a:solidFill>
                  <a:srgbClr val="1A1A1A"/>
                </a:solidFill>
                <a:latin typeface="Arial"/>
                <a:ea typeface="Arial"/>
                <a:cs typeface="Arial"/>
              </a:rPr>
              <a:t>The "Unlock my score" button is still a round pill. Make it rectangular.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pic>
        <p:nvPicPr>
          <p:cNvPr id="3" name="Picture 2" descr="Stay Sharp&#10;&#10;AI-generated content may be incorrect.">
            <a:extLst>
              <a:ext uri="{FF2B5EF4-FFF2-40B4-BE49-F238E27FC236}">
                <a16:creationId xmlns:a16="http://schemas.microsoft.com/office/drawing/2014/main" id="{4EB09D15-7B9F-E880-7456-66582894297F}"/>
              </a:ext>
            </a:extLst>
          </p:cNvPr>
          <p:cNvPicPr>
            <a:picLocks noChangeAspect="1"/>
          </p:cNvPicPr>
          <p:nvPr/>
        </p:nvPicPr>
        <p:blipFill>
          <a:blip r:embed="rId3"/>
          <a:stretch>
            <a:fillRect/>
          </a:stretch>
        </p:blipFill>
        <p:spPr>
          <a:xfrm>
            <a:off x="1502228" y="1010573"/>
            <a:ext cx="8816107" cy="3338965"/>
          </a:xfrm>
          <a:prstGeom prst="rect">
            <a:avLst/>
          </a:prstGeom>
        </p:spPr>
      </p:pic>
      <p:sp>
        <p:nvSpPr>
          <p:cNvPr id="5" name="Google Shape;196;p30">
            <a:extLst>
              <a:ext uri="{FF2B5EF4-FFF2-40B4-BE49-F238E27FC236}">
                <a16:creationId xmlns:a16="http://schemas.microsoft.com/office/drawing/2014/main" id="{4036DA26-A309-7282-FE01-E8D6855735DD}"/>
              </a:ext>
            </a:extLst>
          </p:cNvPr>
          <p:cNvSpPr txBox="1"/>
          <p:nvPr/>
        </p:nvSpPr>
        <p:spPr>
          <a:xfrm>
            <a:off x="8388096" y="342900"/>
            <a:ext cx="3657600" cy="561652"/>
          </a:xfrm>
          <a:prstGeom prst="rect">
            <a:avLst/>
          </a:prstGeom>
          <a:solidFill>
            <a:srgbClr val="FFFACC"/>
          </a:solidFill>
          <a:ln w="19050" cap="flat" cmpd="sng">
            <a:solidFill>
              <a:srgbClr val="D4A017"/>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dirty="0">
                <a:solidFill>
                  <a:srgbClr val="1A1A1A"/>
                </a:solidFill>
                <a:latin typeface="Arial"/>
                <a:ea typeface="Arial"/>
                <a:cs typeface="Arial"/>
                <a:sym typeface="Arial"/>
              </a:rPr>
              <a:t>DEVELOPER NOTES</a:t>
            </a:r>
            <a:endParaRPr dirty="0"/>
          </a:p>
          <a:p>
            <a:pPr marL="0" marR="0" lvl="0" indent="0" algn="l" rtl="0">
              <a:spcBef>
                <a:spcPts val="0"/>
              </a:spcBef>
              <a:spcAft>
                <a:spcPts val="0"/>
              </a:spcAft>
              <a:buNone/>
            </a:pPr>
            <a:r>
              <a:rPr lang="en-US" sz="750" b="1" dirty="0">
                <a:solidFill>
                  <a:srgbClr val="1A1A1A"/>
                </a:solidFill>
                <a:latin typeface="Arial"/>
                <a:ea typeface="Arial"/>
                <a:cs typeface="Arial"/>
                <a:sym typeface="Arial"/>
              </a:rPr>
              <a:t>[1] </a:t>
            </a:r>
            <a:r>
              <a:rPr lang="en-US" sz="750" b="1" dirty="0">
                <a:solidFill>
                  <a:srgbClr val="1A1A1A"/>
                </a:solidFill>
              </a:rPr>
              <a:t>Fix this, it doesn’t work when we subscribe</a:t>
            </a:r>
          </a:p>
          <a:p>
            <a:pPr marL="0" marR="0" lvl="0" indent="0" algn="l" rtl="0">
              <a:spcBef>
                <a:spcPts val="0"/>
              </a:spcBef>
              <a:spcAft>
                <a:spcPts val="0"/>
              </a:spcAft>
              <a:buNone/>
            </a:pPr>
            <a:endParaRPr lang="en-US" sz="750" b="1" dirty="0">
              <a:solidFill>
                <a:srgbClr val="1A1A1A"/>
              </a:solidFill>
            </a:endParaRPr>
          </a:p>
          <a:p>
            <a:pPr marL="0" marR="0" lvl="0" indent="0" algn="l" rtl="0">
              <a:spcBef>
                <a:spcPts val="0"/>
              </a:spcBef>
              <a:spcAft>
                <a:spcPts val="0"/>
              </a:spcAft>
              <a:buNone/>
            </a:pPr>
            <a:r>
              <a:rPr lang="en-US" sz="750" b="1" dirty="0">
                <a:solidFill>
                  <a:srgbClr val="1A1A1A"/>
                </a:solidFill>
              </a:rPr>
              <a:t>[2] fix the button here to be rectangular</a:t>
            </a:r>
            <a:endParaRPr dirty="0"/>
          </a:p>
        </p:txBody>
      </p:sp>
      <p:sp>
        <p:nvSpPr>
          <p:cNvPr id="990" name="Status post-it"/>
          <p:cNvSpPr txBox="1"/>
          <p:nvPr/>
        </p:nvSpPr>
        <p:spPr>
          <a:xfrm>
            <a:off x="1499616" y="4572000"/>
            <a:ext cx="5486400" cy="590931"/>
          </a:xfrm>
          <a:prstGeom prst="rect">
            <a:avLst/>
          </a:prstGeom>
          <a:solidFill>
            <a:srgbClr val="FFC9DC"/>
          </a:solidFill>
          <a:ln w="19050">
            <a:solidFill>
              <a:srgbClr val="D63A6F"/>
            </a:solidFill>
          </a:ln>
          <a:effectLst>
            <a:outerShdw blurRad="50800" dist="25400" dir="2700000" algn="tl" rotWithShape="0">
              <a:srgbClr val="000000">
                <a:alpha val="25000"/>
              </a:srgbClr>
            </a:outerShdw>
          </a:effectLst>
        </p:spPr>
        <p:txBody>
          <a:bodyPr wrap="square" lIns="91440" tIns="64008" rIns="91440" bIns="64008" anchor="t">
            <a:spAutoFit/>
          </a:bodyPr>
          <a:lstStyle/>
          <a:p>
            <a:pPr>
              <a:buNone/>
            </a:pPr>
            <a:r>
              <a:rPr lang="en-GB" sz="900" b="1" dirty="0">
                <a:solidFill>
                  <a:srgbClr val="1A1A1A"/>
                </a:solidFill>
                <a:latin typeface="Arial"/>
                <a:ea typeface="Arial"/>
                <a:cs typeface="Arial"/>
              </a:rPr>
              <a:t>STATUS 30 SEP: SIGNUP FIXED, ONE TEST LEFT</a:t>
            </a:r>
          </a:p>
          <a:p>
            <a:pPr marL="114300" indent="-114300">
              <a:spcBef>
                <a:spcPts val="300"/>
              </a:spcBef>
              <a:buFont typeface="Arial"/>
              <a:buChar char="•"/>
            </a:pPr>
            <a:r>
              <a:rPr lang="en-GB" sz="800" b="0" dirty="0">
                <a:solidFill>
                  <a:srgbClr val="1A1A1A"/>
                </a:solidFill>
                <a:latin typeface="Arial"/>
                <a:ea typeface="Arial"/>
                <a:cs typeface="Arial"/>
              </a:rPr>
              <a:t>Subscribing now works and the button is rectangular.</a:t>
            </a:r>
          </a:p>
          <a:p>
            <a:pPr marL="114300" indent="-114300">
              <a:spcBef>
                <a:spcPts val="300"/>
              </a:spcBef>
              <a:buFont typeface="Arial"/>
              <a:buChar char="•"/>
            </a:pPr>
            <a:r>
              <a:rPr lang="en-GB" sz="800" b="0" dirty="0">
                <a:solidFill>
                  <a:srgbClr val="1A1A1A"/>
                </a:solidFill>
                <a:latin typeface="Arial"/>
                <a:ea typeface="Arial"/>
                <a:cs typeface="Arial"/>
              </a:rPr>
              <a:t>When the next article is published, test that subscribers receive the email and that its link opens the article.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The image contains a list of headings and bullet points, likely from an article discussing strategies and challenges for businesses in the UAE. The topics include leadership, technology, finance, and market entry, among others.&#10;&#10;AI-generated content may be incorrect.">
            <a:extLst>
              <a:ext uri="{FF2B5EF4-FFF2-40B4-BE49-F238E27FC236}">
                <a16:creationId xmlns:a16="http://schemas.microsoft.com/office/drawing/2014/main" id="{A62564DD-F616-8345-B8F7-AB06D11C28B5}"/>
              </a:ext>
            </a:extLst>
          </p:cNvPr>
          <p:cNvPicPr>
            <a:picLocks noChangeAspect="1"/>
          </p:cNvPicPr>
          <p:nvPr/>
        </p:nvPicPr>
        <p:blipFill>
          <a:blip r:embed="rId2"/>
          <a:stretch>
            <a:fillRect/>
          </a:stretch>
        </p:blipFill>
        <p:spPr>
          <a:xfrm>
            <a:off x="886264" y="837412"/>
            <a:ext cx="9202754" cy="5500083"/>
          </a:xfrm>
          <a:prstGeom prst="rect">
            <a:avLst/>
          </a:prstGeom>
        </p:spPr>
      </p:pic>
      <p:sp>
        <p:nvSpPr>
          <p:cNvPr id="9" name="Google Shape;196;p30">
            <a:extLst>
              <a:ext uri="{FF2B5EF4-FFF2-40B4-BE49-F238E27FC236}">
                <a16:creationId xmlns:a16="http://schemas.microsoft.com/office/drawing/2014/main" id="{509A851D-1E27-87E1-0FB9-D3E2C43D7522}"/>
              </a:ext>
            </a:extLst>
          </p:cNvPr>
          <p:cNvSpPr txBox="1"/>
          <p:nvPr/>
        </p:nvSpPr>
        <p:spPr>
          <a:xfrm>
            <a:off x="8388096" y="342900"/>
            <a:ext cx="3657600" cy="877123"/>
          </a:xfrm>
          <a:prstGeom prst="rect">
            <a:avLst/>
          </a:prstGeom>
          <a:solidFill>
            <a:srgbClr val="FFFACC"/>
          </a:solidFill>
          <a:ln w="19050" cap="flat" cmpd="sng">
            <a:solidFill>
              <a:srgbClr val="D4A017"/>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1" dirty="0">
                <a:solidFill>
                  <a:srgbClr val="1A1A1A"/>
                </a:solidFill>
                <a:latin typeface="Arial"/>
                <a:ea typeface="Arial"/>
                <a:cs typeface="Arial"/>
                <a:sym typeface="Arial"/>
              </a:rPr>
              <a:t>DEVELOPER NOTES</a:t>
            </a:r>
            <a:endParaRPr dirty="0"/>
          </a:p>
          <a:p>
            <a:pPr marL="0" marR="0" lvl="0" indent="0" algn="l" rtl="0">
              <a:spcBef>
                <a:spcPts val="0"/>
              </a:spcBef>
              <a:spcAft>
                <a:spcPts val="0"/>
              </a:spcAft>
              <a:buNone/>
            </a:pPr>
            <a:r>
              <a:rPr lang="en-US" sz="750" b="1" dirty="0">
                <a:solidFill>
                  <a:srgbClr val="1A1A1A"/>
                </a:solidFill>
                <a:latin typeface="Arial"/>
                <a:ea typeface="Arial"/>
                <a:cs typeface="Arial"/>
                <a:sym typeface="Arial"/>
              </a:rPr>
              <a:t>[1] </a:t>
            </a:r>
            <a:r>
              <a:rPr lang="en-US" sz="750" b="1" dirty="0">
                <a:solidFill>
                  <a:srgbClr val="1A1A1A"/>
                </a:solidFill>
              </a:rPr>
              <a:t>Add the three articles shown below, for September – find full articles at –</a:t>
            </a:r>
          </a:p>
          <a:p>
            <a:pPr marL="0" marR="0" lvl="0" indent="0" algn="l" rtl="0">
              <a:spcBef>
                <a:spcPts val="0"/>
              </a:spcBef>
              <a:spcAft>
                <a:spcPts val="0"/>
              </a:spcAft>
              <a:buNone/>
            </a:pPr>
            <a:endParaRPr lang="en-US" sz="750" b="1" dirty="0">
              <a:solidFill>
                <a:srgbClr val="1A1A1A"/>
              </a:solidFill>
            </a:endParaRPr>
          </a:p>
          <a:p>
            <a:pPr lvl="0"/>
            <a:r>
              <a:rPr lang="en-US" dirty="0"/>
              <a:t>https://claude.ai/code/artifact/374a7554-969c-4e4f-bb74-a4056085bd13</a:t>
            </a:r>
            <a:endParaRPr dirty="0"/>
          </a:p>
        </p:txBody>
      </p:sp>
      <p:sp>
        <p:nvSpPr>
          <p:cNvPr id="990" name="Status post-it"/>
          <p:cNvSpPr txBox="1"/>
          <p:nvPr/>
        </p:nvSpPr>
        <p:spPr>
          <a:xfrm>
            <a:off x="10149840" y="1463040"/>
            <a:ext cx="1965960" cy="1098762"/>
          </a:xfrm>
          <a:prstGeom prst="rect">
            <a:avLst/>
          </a:prstGeom>
          <a:solidFill>
            <a:srgbClr val="FFC9DC"/>
          </a:solidFill>
          <a:ln w="19050">
            <a:solidFill>
              <a:srgbClr val="D63A6F"/>
            </a:solidFill>
          </a:ln>
          <a:effectLst>
            <a:outerShdw blurRad="50800" dist="25400" dir="2700000" algn="tl" rotWithShape="0">
              <a:srgbClr val="000000">
                <a:alpha val="25000"/>
              </a:srgbClr>
            </a:outerShdw>
          </a:effectLst>
        </p:spPr>
        <p:txBody>
          <a:bodyPr wrap="square" lIns="91440" tIns="64008" rIns="91440" bIns="64008" anchor="t">
            <a:spAutoFit/>
          </a:bodyPr>
          <a:lstStyle/>
          <a:p>
            <a:pPr>
              <a:buNone/>
            </a:pPr>
            <a:r>
              <a:rPr lang="en-GB" sz="900" b="1" dirty="0">
                <a:solidFill>
                  <a:srgbClr val="1A1A1A"/>
                </a:solidFill>
                <a:latin typeface="Arial"/>
                <a:ea typeface="Arial"/>
                <a:cs typeface="Arial"/>
              </a:rPr>
              <a:t>STATUS 30 SEP: NOT DONE YET</a:t>
            </a:r>
          </a:p>
          <a:p>
            <a:pPr marL="114300" indent="-114300">
              <a:spcBef>
                <a:spcPts val="300"/>
              </a:spcBef>
              <a:buFont typeface="Arial"/>
              <a:buChar char="•"/>
            </a:pPr>
            <a:r>
              <a:rPr lang="en-GB" sz="800" b="0" dirty="0">
                <a:solidFill>
                  <a:srgbClr val="1A1A1A"/>
                </a:solidFill>
                <a:latin typeface="Arial"/>
                <a:ea typeface="Arial"/>
                <a:cs typeface="Arial"/>
              </a:rPr>
              <a:t>Insights still shows only the four August articles.</a:t>
            </a:r>
          </a:p>
          <a:p>
            <a:pPr marL="114300" indent="-114300">
              <a:spcBef>
                <a:spcPts val="300"/>
              </a:spcBef>
              <a:buFont typeface="Arial"/>
              <a:buChar char="•"/>
            </a:pPr>
            <a:r>
              <a:rPr lang="en-GB" sz="800" b="0" dirty="0">
                <a:solidFill>
                  <a:srgbClr val="1A1A1A"/>
                </a:solidFill>
                <a:latin typeface="Arial"/>
                <a:ea typeface="Arial"/>
                <a:cs typeface="Arial"/>
              </a:rPr>
              <a:t>Add the three September articles: UAE market entry, fractional staffing and fractional CFO (by Justin Ford).</a:t>
            </a:r>
          </a:p>
        </p:txBody>
      </p:sp>
    </p:spTree>
    <p:extLst>
      <p:ext uri="{BB962C8B-B14F-4D97-AF65-F5344CB8AC3E}">
        <p14:creationId xmlns:p14="http://schemas.microsoft.com/office/powerpoint/2010/main" val="16399222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D8D760B-D97D-F62A-E2E6-BA94EB277FB8}"/>
              </a:ext>
            </a:extLst>
          </p:cNvPr>
          <p:cNvPicPr>
            <a:picLocks/>
          </p:cNvPicPr>
          <p:nvPr/>
        </p:nvPicPr>
        <p:blipFill>
          <a:blip r:embed="rId2"/>
          <a:stretch>
            <a:fillRect/>
          </a:stretch>
        </p:blipFill>
        <p:spPr>
          <a:xfrm>
            <a:off x="365760" y="457200"/>
            <a:ext cx="5669280" cy="2627711"/>
          </a:xfrm>
          <a:prstGeom prst="rect">
            <a:avLst/>
          </a:prstGeom>
          <a:ln w="9525">
            <a:solidFill>
              <a:srgbClr val="CCCCCC"/>
            </a:solidFill>
          </a:ln>
        </p:spPr>
      </p:pic>
      <p:pic>
        <p:nvPicPr>
          <p:cNvPr id="5" name="Picture 4">
            <a:extLst>
              <a:ext uri="{FF2B5EF4-FFF2-40B4-BE49-F238E27FC236}">
                <a16:creationId xmlns:a16="http://schemas.microsoft.com/office/drawing/2014/main" id="{507D0E81-585D-BE21-BE81-CE01B147DD8A}"/>
              </a:ext>
            </a:extLst>
          </p:cNvPr>
          <p:cNvPicPr>
            <a:picLocks/>
          </p:cNvPicPr>
          <p:nvPr/>
        </p:nvPicPr>
        <p:blipFill>
          <a:blip r:embed="rId3"/>
          <a:stretch>
            <a:fillRect/>
          </a:stretch>
        </p:blipFill>
        <p:spPr>
          <a:xfrm>
            <a:off x="6172200" y="457200"/>
            <a:ext cx="5669280" cy="1675272"/>
          </a:xfrm>
          <a:prstGeom prst="rect">
            <a:avLst/>
          </a:prstGeom>
          <a:ln w="9525">
            <a:solidFill>
              <a:srgbClr val="CCCCCC"/>
            </a:solidFill>
          </a:ln>
        </p:spPr>
      </p:pic>
      <p:cxnSp>
        <p:nvCxnSpPr>
          <p:cNvPr id="6" name="Straight Connector 5">
            <a:extLst>
              <a:ext uri="{FF2B5EF4-FFF2-40B4-BE49-F238E27FC236}">
                <a16:creationId xmlns:a16="http://schemas.microsoft.com/office/drawing/2014/main" id="{F5B972CB-04B2-D5FD-2DFB-DCDB1B3B224A}"/>
              </a:ext>
            </a:extLst>
          </p:cNvPr>
          <p:cNvCxnSpPr/>
          <p:nvPr/>
        </p:nvCxnSpPr>
        <p:spPr>
          <a:xfrm>
            <a:off x="836310" y="457200"/>
            <a:ext cx="0" cy="2627711"/>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57C49525-47A1-BE9C-3C24-611A8F53D2D2}"/>
              </a:ext>
            </a:extLst>
          </p:cNvPr>
          <p:cNvCxnSpPr/>
          <p:nvPr/>
        </p:nvCxnSpPr>
        <p:spPr>
          <a:xfrm>
            <a:off x="1091428" y="457200"/>
            <a:ext cx="0" cy="2627711"/>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55D9AF62-0BF1-E03F-4B39-11E6AB37EDF9}"/>
              </a:ext>
            </a:extLst>
          </p:cNvPr>
          <p:cNvCxnSpPr/>
          <p:nvPr/>
        </p:nvCxnSpPr>
        <p:spPr>
          <a:xfrm>
            <a:off x="6444325" y="457200"/>
            <a:ext cx="0" cy="1675272"/>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F542B90A-242A-1A8E-AC57-267F09E5B7D2}"/>
              </a:ext>
            </a:extLst>
          </p:cNvPr>
          <p:cNvCxnSpPr/>
          <p:nvPr/>
        </p:nvCxnSpPr>
        <p:spPr>
          <a:xfrm>
            <a:off x="6702278" y="457200"/>
            <a:ext cx="0" cy="1675272"/>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002FC113-1DB4-FD72-8317-177F7F82F906}"/>
              </a:ext>
            </a:extLst>
          </p:cNvPr>
          <p:cNvSpPr txBox="1"/>
          <p:nvPr/>
        </p:nvSpPr>
        <p:spPr>
          <a:xfrm>
            <a:off x="365760" y="3135711"/>
            <a:ext cx="5669280" cy="230832"/>
          </a:xfrm>
          <a:prstGeom prst="rect">
            <a:avLst/>
          </a:prstGeom>
          <a:noFill/>
        </p:spPr>
        <p:txBody>
          <a:bodyPr vert="horz" rtlCol="0">
            <a:spAutoFit/>
          </a:bodyPr>
          <a:lstStyle/>
          <a:p>
            <a:r>
              <a:rPr lang="en-GB" sz="900" b="1">
                <a:solidFill>
                  <a:srgbClr val="FF0000"/>
                </a:solidFill>
                <a:latin typeface="Arial" panose="020B0604020202020204" pitchFamily="34" charset="0"/>
              </a:rPr>
              <a:t>Red lines: pain accordion ends on one left edge, Who we serve starts on another</a:t>
            </a:r>
            <a:endParaRPr lang="en-AE" sz="900" b="1">
              <a:solidFill>
                <a:srgbClr val="FF0000"/>
              </a:solidFill>
              <a:latin typeface="Arial" panose="020B0604020202020204" pitchFamily="34" charset="0"/>
            </a:endParaRPr>
          </a:p>
        </p:txBody>
      </p:sp>
      <p:sp>
        <p:nvSpPr>
          <p:cNvPr id="11" name="TextBox 10">
            <a:extLst>
              <a:ext uri="{FF2B5EF4-FFF2-40B4-BE49-F238E27FC236}">
                <a16:creationId xmlns:a16="http://schemas.microsoft.com/office/drawing/2014/main" id="{79B9F1F1-30EE-9B1C-C4FF-AC2A3D913F52}"/>
              </a:ext>
            </a:extLst>
          </p:cNvPr>
          <p:cNvSpPr txBox="1"/>
          <p:nvPr/>
        </p:nvSpPr>
        <p:spPr>
          <a:xfrm>
            <a:off x="6172200" y="2183272"/>
            <a:ext cx="5669280" cy="230832"/>
          </a:xfrm>
          <a:prstGeom prst="rect">
            <a:avLst/>
          </a:prstGeom>
          <a:noFill/>
        </p:spPr>
        <p:txBody>
          <a:bodyPr vert="horz" rtlCol="0">
            <a:spAutoFit/>
          </a:bodyPr>
          <a:lstStyle/>
          <a:p>
            <a:r>
              <a:rPr lang="en-GB" sz="900" b="1">
                <a:solidFill>
                  <a:srgbClr val="FF0000"/>
                </a:solidFill>
                <a:latin typeface="Arial" panose="020B0604020202020204" pitchFamily="34" charset="0"/>
              </a:rPr>
              <a:t>Red lines: Who we serve sits in a white box on one edge, Measured Impact starts on another</a:t>
            </a:r>
            <a:endParaRPr lang="en-AE" sz="900" b="1">
              <a:solidFill>
                <a:srgbClr val="FF0000"/>
              </a:solidFill>
              <a:latin typeface="Arial" panose="020B0604020202020204" pitchFamily="34" charset="0"/>
            </a:endParaRPr>
          </a:p>
        </p:txBody>
      </p:sp>
      <p:sp>
        <p:nvSpPr>
          <p:cNvPr id="12" name="Status post-it">
            <a:extLst>
              <a:ext uri="{FF2B5EF4-FFF2-40B4-BE49-F238E27FC236}">
                <a16:creationId xmlns:a16="http://schemas.microsoft.com/office/drawing/2014/main" id="{7FFE1585-A2D6-B24A-A012-8E1F8066517C}"/>
              </a:ext>
            </a:extLst>
          </p:cNvPr>
          <p:cNvSpPr txBox="1"/>
          <p:nvPr/>
        </p:nvSpPr>
        <p:spPr>
          <a:xfrm>
            <a:off x="365760" y="5073412"/>
            <a:ext cx="11475720" cy="1006429"/>
          </a:xfrm>
          <a:prstGeom prst="rect">
            <a:avLst/>
          </a:prstGeom>
          <a:solidFill>
            <a:srgbClr val="FFC9DC"/>
          </a:solidFill>
          <a:ln w="19050">
            <a:solidFill>
              <a:srgbClr val="D63A6F"/>
            </a:solidFill>
          </a:ln>
          <a:effectLst>
            <a:outerShdw blurRad="50800" dist="25400" dir="2700000" algn="tl" rotWithShape="0">
              <a:srgbClr val="000000">
                <a:alpha val="25000"/>
              </a:srgbClr>
            </a:outerShdw>
          </a:effectLst>
        </p:spPr>
        <p:txBody>
          <a:bodyPr wrap="square" lIns="91440" tIns="64008" rIns="91440" bIns="64008" anchor="t">
            <a:spAutoFit/>
          </a:bodyPr>
          <a:lstStyle/>
          <a:p>
            <a:r>
              <a:rPr lang="en-GB" sz="900" b="1" dirty="0">
                <a:solidFill>
                  <a:srgbClr val="1A1A1A"/>
                </a:solidFill>
                <a:latin typeface="Arial" panose="020B0604020202020204" pitchFamily="34" charset="0"/>
                <a:ea typeface="Arial"/>
                <a:cs typeface="Arial"/>
              </a:rPr>
              <a:t>STATUS 30 SEP: NEW ADDITION</a:t>
            </a:r>
          </a:p>
          <a:p>
            <a:pPr marL="228600" indent="-228600">
              <a:buFont typeface="+mj-lt"/>
              <a:buChar char="•"/>
            </a:pPr>
            <a:r>
              <a:rPr lang="en-GB" sz="800" dirty="0">
                <a:solidFill>
                  <a:srgbClr val="1A1A1A"/>
                </a:solidFill>
                <a:latin typeface="Arial" panose="020B0604020202020204" pitchFamily="34" charset="0"/>
                <a:ea typeface="Arial"/>
                <a:cs typeface="Arial"/>
              </a:rPr>
              <a:t>The homepage does not read as one page. Each section has its own width and left edge, so you can see where one section ends and the next begins (red lines above show the two different edges in each screenshot).</a:t>
            </a:r>
          </a:p>
          <a:p>
            <a:pPr marL="228600" indent="-228600">
              <a:buFont typeface="+mj-lt"/>
              <a:buChar char="•"/>
            </a:pPr>
            <a:r>
              <a:rPr lang="en-GB" sz="800" dirty="0">
                <a:solidFill>
                  <a:srgbClr val="1A1A1A"/>
                </a:solidFill>
                <a:latin typeface="Arial" panose="020B0604020202020204" pitchFamily="34" charset="0"/>
                <a:ea typeface="Arial"/>
                <a:cs typeface="Arial"/>
              </a:rPr>
              <a:t>Please use one content width for every section, so all headings, cards and buttons start on the same left edge.</a:t>
            </a:r>
          </a:p>
          <a:p>
            <a:pPr marL="228600" indent="-228600">
              <a:buFont typeface="+mj-lt"/>
              <a:buChar char="•"/>
            </a:pPr>
            <a:r>
              <a:rPr lang="en-GB" sz="800" dirty="0">
                <a:solidFill>
                  <a:srgbClr val="1A1A1A"/>
                </a:solidFill>
                <a:latin typeface="Arial" panose="020B0604020202020204" pitchFamily="34" charset="0"/>
                <a:ea typeface="Arial"/>
                <a:cs typeface="Arial"/>
              </a:rPr>
              <a:t>Use the same spacing between every section, and remove the thin divider line above Who we serve.</a:t>
            </a:r>
          </a:p>
          <a:p>
            <a:pPr marL="228600" indent="-228600">
              <a:buFont typeface="+mj-lt"/>
              <a:buChar char="•"/>
            </a:pPr>
            <a:r>
              <a:rPr lang="en-GB" sz="800">
                <a:solidFill>
                  <a:srgbClr val="1A1A1A"/>
                </a:solidFill>
                <a:latin typeface="Arial" panose="020B0604020202020204" pitchFamily="34" charset="0"/>
                <a:ea typeface="Arial"/>
                <a:cs typeface="Arial"/>
              </a:rPr>
              <a:t>Use </a:t>
            </a:r>
            <a:r>
              <a:rPr lang="en-GB" sz="800" dirty="0">
                <a:solidFill>
                  <a:srgbClr val="1A1A1A"/>
                </a:solidFill>
                <a:latin typeface="Arial" panose="020B0604020202020204" pitchFamily="34" charset="0"/>
                <a:ea typeface="Arial"/>
                <a:cs typeface="Arial"/>
              </a:rPr>
              <a:t>one background colour for boxed sections. The case studies box is off-white (#FEF9F6) while the Our fees box is pure white (#FFFFFF), and a grey band (#EFEEE7) shows under the case studies box. Pick one colour for all boxes and remove the band.</a:t>
            </a:r>
          </a:p>
          <a:p>
            <a:pPr marL="228600" indent="-228600">
              <a:buFont typeface="+mj-lt"/>
              <a:buChar char="•"/>
            </a:pPr>
            <a:r>
              <a:rPr lang="en-GB" sz="800" dirty="0">
                <a:solidFill>
                  <a:srgbClr val="1A1A1A"/>
                </a:solidFill>
                <a:latin typeface="Arial" panose="020B0604020202020204" pitchFamily="34" charset="0"/>
                <a:ea typeface="Arial"/>
                <a:cs typeface="Arial"/>
              </a:rPr>
              <a:t>The aim is for the page to scroll as one continuous flow rather than separate blocks.</a:t>
            </a:r>
          </a:p>
        </p:txBody>
      </p:sp>
      <p:pic>
        <p:nvPicPr>
          <p:cNvPr id="4" name="Picture 3">
            <a:extLst>
              <a:ext uri="{FF2B5EF4-FFF2-40B4-BE49-F238E27FC236}">
                <a16:creationId xmlns:a16="http://schemas.microsoft.com/office/drawing/2014/main" id="{A86AC3F0-FF2D-B0DB-D146-029555993F77}"/>
              </a:ext>
            </a:extLst>
          </p:cNvPr>
          <p:cNvPicPr>
            <a:picLocks/>
          </p:cNvPicPr>
          <p:nvPr/>
        </p:nvPicPr>
        <p:blipFill>
          <a:blip r:embed="rId4"/>
          <a:stretch>
            <a:fillRect/>
          </a:stretch>
        </p:blipFill>
        <p:spPr>
          <a:xfrm>
            <a:off x="6172200" y="2560320"/>
            <a:ext cx="4320791" cy="1965960"/>
          </a:xfrm>
          <a:prstGeom prst="rect">
            <a:avLst/>
          </a:prstGeom>
          <a:ln w="9525">
            <a:solidFill>
              <a:srgbClr val="CCCCCC"/>
            </a:solidFill>
          </a:ln>
        </p:spPr>
      </p:pic>
      <p:sp>
        <p:nvSpPr>
          <p:cNvPr id="13" name="Rectangle 12">
            <a:extLst>
              <a:ext uri="{FF2B5EF4-FFF2-40B4-BE49-F238E27FC236}">
                <a16:creationId xmlns:a16="http://schemas.microsoft.com/office/drawing/2014/main" id="{CF5FB267-F8BC-C67D-E3CF-D3CADBA3D104}"/>
              </a:ext>
            </a:extLst>
          </p:cNvPr>
          <p:cNvSpPr/>
          <p:nvPr/>
        </p:nvSpPr>
        <p:spPr>
          <a:xfrm>
            <a:off x="6345032" y="2560320"/>
            <a:ext cx="3931920" cy="687006"/>
          </a:xfrm>
          <a:prstGeom prst="rect">
            <a:avLst/>
          </a:prstGeom>
          <a:noFill/>
          <a:ln w="19050" cap="flat" cmpd="sng" algn="ctr">
            <a:solidFill>
              <a:srgbClr val="FF0000"/>
            </a:solidFill>
            <a:prstDash val="dash"/>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sp>
        <p:nvSpPr>
          <p:cNvPr id="14" name="Rectangle 13">
            <a:extLst>
              <a:ext uri="{FF2B5EF4-FFF2-40B4-BE49-F238E27FC236}">
                <a16:creationId xmlns:a16="http://schemas.microsoft.com/office/drawing/2014/main" id="{9365D489-73DD-F4FC-88FC-2EBFD6221366}"/>
              </a:ext>
            </a:extLst>
          </p:cNvPr>
          <p:cNvSpPr/>
          <p:nvPr/>
        </p:nvSpPr>
        <p:spPr>
          <a:xfrm>
            <a:off x="6345032" y="3247326"/>
            <a:ext cx="3931920" cy="73453"/>
          </a:xfrm>
          <a:prstGeom prst="rect">
            <a:avLst/>
          </a:prstGeom>
          <a:noFill/>
          <a:ln w="19050" cap="flat" cmpd="sng" algn="ctr">
            <a:solidFill>
              <a:srgbClr val="FF0000"/>
            </a:solidFill>
            <a:prstDash val="dash"/>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sp>
        <p:nvSpPr>
          <p:cNvPr id="15" name="Rectangle 14">
            <a:extLst>
              <a:ext uri="{FF2B5EF4-FFF2-40B4-BE49-F238E27FC236}">
                <a16:creationId xmlns:a16="http://schemas.microsoft.com/office/drawing/2014/main" id="{0CFBB69C-E49B-82D8-944B-2A509EB0D172}"/>
              </a:ext>
            </a:extLst>
          </p:cNvPr>
          <p:cNvSpPr/>
          <p:nvPr/>
        </p:nvSpPr>
        <p:spPr>
          <a:xfrm>
            <a:off x="6345032" y="4284316"/>
            <a:ext cx="3931920" cy="241964"/>
          </a:xfrm>
          <a:prstGeom prst="rect">
            <a:avLst/>
          </a:prstGeom>
          <a:noFill/>
          <a:ln w="19050" cap="flat" cmpd="sng" algn="ctr">
            <a:solidFill>
              <a:srgbClr val="FF0000"/>
            </a:solidFill>
            <a:prstDash val="dash"/>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sp>
        <p:nvSpPr>
          <p:cNvPr id="16" name="TextBox 15">
            <a:extLst>
              <a:ext uri="{FF2B5EF4-FFF2-40B4-BE49-F238E27FC236}">
                <a16:creationId xmlns:a16="http://schemas.microsoft.com/office/drawing/2014/main" id="{CF559D32-AC79-E968-55A5-EC37B84291A0}"/>
              </a:ext>
            </a:extLst>
          </p:cNvPr>
          <p:cNvSpPr txBox="1"/>
          <p:nvPr/>
        </p:nvSpPr>
        <p:spPr>
          <a:xfrm>
            <a:off x="6172200" y="4577080"/>
            <a:ext cx="5669280" cy="369332"/>
          </a:xfrm>
          <a:prstGeom prst="rect">
            <a:avLst/>
          </a:prstGeom>
          <a:noFill/>
        </p:spPr>
        <p:txBody>
          <a:bodyPr vert="horz" wrap="square" rtlCol="0">
            <a:spAutoFit/>
          </a:bodyPr>
          <a:lstStyle/>
          <a:p>
            <a:r>
              <a:rPr lang="en-GB" sz="900" b="1">
                <a:solidFill>
                  <a:srgbClr val="FF0000"/>
                </a:solidFill>
                <a:latin typeface="Arial" panose="020B0604020202020204" pitchFamily="34" charset="0"/>
              </a:rPr>
              <a:t>Red boxes: case studies box is off-white, Our fees box is pure white, and a grey band shows under the case studies box</a:t>
            </a:r>
            <a:endParaRPr lang="en-AE" sz="900" b="1">
              <a:solidFill>
                <a:srgbClr val="FF0000"/>
              </a:solidFill>
              <a:latin typeface="Arial" panose="020B0604020202020204" pitchFamily="34" charset="0"/>
            </a:endParaRPr>
          </a:p>
        </p:txBody>
      </p:sp>
    </p:spTree>
    <p:extLst>
      <p:ext uri="{BB962C8B-B14F-4D97-AF65-F5344CB8AC3E}">
        <p14:creationId xmlns:p14="http://schemas.microsoft.com/office/powerpoint/2010/main" val="1921607264"/>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259</TotalTime>
  <Words>1279</Words>
  <Application>Microsoft Office PowerPoint</Application>
  <PresentationFormat>Widescreen</PresentationFormat>
  <Paragraphs>119</Paragraphs>
  <Slides>11</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Iram Kauser</dc:creator>
  <cp:lastModifiedBy>Iram Kauser</cp:lastModifiedBy>
  <cp:revision>5</cp:revision>
  <dcterms:modified xsi:type="dcterms:W3CDTF">2026-09-30T12:32:51Z</dcterms:modified>
</cp:coreProperties>
</file>