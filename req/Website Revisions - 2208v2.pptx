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AC6DEA79.xml" ContentType="application/vnd.ms-powerpoint.comments+xml"/>
  <Override PartName="/ppt/comments/modernComment_101_66AFD6.xml" ContentType="application/vnd.ms-powerpoint.comments+xml"/>
  <Override PartName="/ppt/comments/modernComment_102_82125DB.xml" ContentType="application/vnd.ms-powerpoint.comments+xml"/>
  <Override PartName="/ppt/comments/modernComment_103_D71501BA.xml" ContentType="application/vnd.ms-powerpoint.comments+xml"/>
  <Override PartName="/ppt/comments/modernComment_105_CD9DC6E.xml" ContentType="application/vnd.ms-powerpoint.comments+xml"/>
  <Override PartName="/ppt/comments/modernComment_107_128896DA.xml" ContentType="application/vnd.ms-powerpoint.comments+xml"/>
  <Override PartName="/ppt/comments/modernComment_108_89E1D296.xml" ContentType="application/vnd.ms-powerpoint.comments+xml"/>
  <Override PartName="/ppt/comments/modernComment_109_5BE9B630.xml" ContentType="application/vnd.ms-powerpoint.comments+xml"/>
  <Override PartName="/ppt/comments/modernComment_10A_C90CC3F3.xml" ContentType="application/vnd.ms-powerpoint.comments+xml"/>
  <Override PartName="/ppt/comments/modernComment_10B_5203CD82.xml" ContentType="application/vnd.ms-powerpoint.comments+xml"/>
  <Override PartName="/ppt/comments/modernComment_10C_4E009DE4.xml" ContentType="application/vnd.ms-powerpoint.comments+xml"/>
  <Override PartName="/ppt/comments/modernComment_10D_BEAF2AED.xml" ContentType="application/vnd.ms-powerpoint.comments+xml"/>
  <Override PartName="/ppt/comments/modernComment_10F_C29889C.xml" ContentType="application/vnd.ms-powerpoint.comments+xml"/>
  <Override PartName="/ppt/comments/modernComment_110_A524503B.xml" ContentType="application/vnd.ms-powerpoint.comments+xml"/>
  <Override PartName="/ppt/comments/modernComment_111_565B6C56.xml" ContentType="application/vnd.ms-powerpoint.comments+xml"/>
  <Override PartName="/ppt/comments/modernComment_10E_379CDB71.xml" ContentType="application/vnd.ms-powerpoint.comments+xml"/>
  <Override PartName="/ppt/comments/modernComment_112_E5CAA07D.xml" ContentType="application/vnd.ms-powerpoint.comments+xml"/>
  <Override PartName="/ppt/comments/modernComment_113_DC4A182F.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0"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9966000-E56D-E1E4-B6C1-B5D13452A597}" name="Iram Kauser" initials="IK" userId="2018ada2adf48dc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60"/>
  </p:normalViewPr>
  <p:slideViewPr>
    <p:cSldViewPr snapToGrid="0">
      <p:cViewPr>
        <p:scale>
          <a:sx n="68" d="100"/>
          <a:sy n="68" d="100"/>
        </p:scale>
        <p:origin x="66"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ram Kauser" userId="2018ada2adf48dc3" providerId="LiveId" clId="{24E9E880-7B01-4D76-BE2A-7CF11D035EA8}"/>
    <pc:docChg chg="custSel modSld">
      <pc:chgData name="Iram Kauser" userId="2018ada2adf48dc3" providerId="LiveId" clId="{24E9E880-7B01-4D76-BE2A-7CF11D035EA8}" dt="2026-08-22T15:09:05.979" v="37" actId="27614"/>
      <pc:docMkLst>
        <pc:docMk/>
      </pc:docMkLst>
      <pc:sldChg chg="addSp delSp modSp mod">
        <pc:chgData name="Iram Kauser" userId="2018ada2adf48dc3" providerId="LiveId" clId="{24E9E880-7B01-4D76-BE2A-7CF11D035EA8}" dt="2026-08-22T15:06:17.691" v="31" actId="27614"/>
        <pc:sldMkLst>
          <pc:docMk/>
          <pc:sldMk cId="3199150829" sldId="269"/>
        </pc:sldMkLst>
        <pc:picChg chg="add del mod">
          <ac:chgData name="Iram Kauser" userId="2018ada2adf48dc3" providerId="LiveId" clId="{24E9E880-7B01-4D76-BE2A-7CF11D035EA8}" dt="2026-08-22T14:52:50.474" v="29" actId="478"/>
          <ac:picMkLst>
            <pc:docMk/>
            <pc:sldMk cId="3199150829" sldId="269"/>
            <ac:picMk id="3" creationId="{BCF5FC7A-CF4D-B3B3-F3BC-6E1D0B9E11C2}"/>
          </ac:picMkLst>
        </pc:picChg>
        <pc:picChg chg="add mod">
          <ac:chgData name="Iram Kauser" userId="2018ada2adf48dc3" providerId="LiveId" clId="{24E9E880-7B01-4D76-BE2A-7CF11D035EA8}" dt="2026-08-22T15:06:17.691" v="31" actId="27614"/>
          <ac:picMkLst>
            <pc:docMk/>
            <pc:sldMk cId="3199150829" sldId="269"/>
            <ac:picMk id="5" creationId="{662A90D0-613A-4364-64F1-943C905B3074}"/>
          </ac:picMkLst>
        </pc:picChg>
      </pc:sldChg>
      <pc:sldChg chg="addSp modSp mod">
        <pc:chgData name="Iram Kauser" userId="2018ada2adf48dc3" providerId="LiveId" clId="{24E9E880-7B01-4D76-BE2A-7CF11D035EA8}" dt="2026-08-22T15:06:57.997" v="35" actId="27614"/>
        <pc:sldMkLst>
          <pc:docMk/>
          <pc:sldMk cId="204048540" sldId="271"/>
        </pc:sldMkLst>
        <pc:picChg chg="add mod">
          <ac:chgData name="Iram Kauser" userId="2018ada2adf48dc3" providerId="LiveId" clId="{24E9E880-7B01-4D76-BE2A-7CF11D035EA8}" dt="2026-08-22T15:06:57.997" v="35" actId="27614"/>
          <ac:picMkLst>
            <pc:docMk/>
            <pc:sldMk cId="204048540" sldId="271"/>
            <ac:picMk id="3" creationId="{6A78303B-7E15-2D60-536D-D8BC1A11BF07}"/>
          </ac:picMkLst>
        </pc:picChg>
      </pc:sldChg>
      <pc:sldChg chg="addSp modSp mod">
        <pc:chgData name="Iram Kauser" userId="2018ada2adf48dc3" providerId="LiveId" clId="{24E9E880-7B01-4D76-BE2A-7CF11D035EA8}" dt="2026-08-22T15:09:05.979" v="37" actId="27614"/>
        <pc:sldMkLst>
          <pc:docMk/>
          <pc:sldMk cId="2770620475" sldId="272"/>
        </pc:sldMkLst>
        <pc:picChg chg="add mod">
          <ac:chgData name="Iram Kauser" userId="2018ada2adf48dc3" providerId="LiveId" clId="{24E9E880-7B01-4D76-BE2A-7CF11D035EA8}" dt="2026-08-22T15:09:05.979" v="37" actId="27614"/>
          <ac:picMkLst>
            <pc:docMk/>
            <pc:sldMk cId="2770620475" sldId="272"/>
            <ac:picMk id="3" creationId="{9B9A0FB5-EDE9-F2AA-C24A-7295E908D9D1}"/>
          </ac:picMkLst>
        </pc:picChg>
      </pc:sldChg>
      <pc:sldChg chg="addSp delSp mod">
        <pc:chgData name="Iram Kauser" userId="2018ada2adf48dc3" providerId="LiveId" clId="{24E9E880-7B01-4D76-BE2A-7CF11D035EA8}" dt="2026-08-22T14:13:07.752" v="2" actId="22"/>
        <pc:sldMkLst>
          <pc:docMk/>
          <pc:sldMk cId="3855261821" sldId="274"/>
        </pc:sldMkLst>
        <pc:spChg chg="add del">
          <ac:chgData name="Iram Kauser" userId="2018ada2adf48dc3" providerId="LiveId" clId="{24E9E880-7B01-4D76-BE2A-7CF11D035EA8}" dt="2026-08-22T14:12:39.479" v="1" actId="478"/>
          <ac:spMkLst>
            <pc:docMk/>
            <pc:sldMk cId="3855261821" sldId="274"/>
            <ac:spMk id="3" creationId="{C3473EF1-5A93-55A5-95AF-4869EA106DCB}"/>
          </ac:spMkLst>
        </pc:spChg>
        <pc:picChg chg="add">
          <ac:chgData name="Iram Kauser" userId="2018ada2adf48dc3" providerId="LiveId" clId="{24E9E880-7B01-4D76-BE2A-7CF11D035EA8}" dt="2026-08-22T14:13:07.752" v="2" actId="22"/>
          <ac:picMkLst>
            <pc:docMk/>
            <pc:sldMk cId="3855261821" sldId="274"/>
            <ac:picMk id="5" creationId="{8DEE6B37-F826-BE51-4960-EEC1BDE2AB8D}"/>
          </ac:picMkLst>
        </pc:picChg>
      </pc:sldChg>
      <pc:sldChg chg="addSp modSp mod">
        <pc:chgData name="Iram Kauser" userId="2018ada2adf48dc3" providerId="LiveId" clId="{24E9E880-7B01-4D76-BE2A-7CF11D035EA8}" dt="2026-08-22T14:17:04.460" v="24" actId="1076"/>
        <pc:sldMkLst>
          <pc:docMk/>
          <pc:sldMk cId="3695843375" sldId="275"/>
        </pc:sldMkLst>
        <pc:picChg chg="add mod">
          <ac:chgData name="Iram Kauser" userId="2018ada2adf48dc3" providerId="LiveId" clId="{24E9E880-7B01-4D76-BE2A-7CF11D035EA8}" dt="2026-08-22T14:16:13.611" v="11" actId="1076"/>
          <ac:picMkLst>
            <pc:docMk/>
            <pc:sldMk cId="3695843375" sldId="275"/>
            <ac:picMk id="3" creationId="{A130CDF8-F296-0D0F-F01B-C69AE3CE7037}"/>
          </ac:picMkLst>
        </pc:picChg>
        <pc:picChg chg="add mod">
          <ac:chgData name="Iram Kauser" userId="2018ada2adf48dc3" providerId="LiveId" clId="{24E9E880-7B01-4D76-BE2A-7CF11D035EA8}" dt="2026-08-22T14:17:04.460" v="24" actId="1076"/>
          <ac:picMkLst>
            <pc:docMk/>
            <pc:sldMk cId="3695843375" sldId="275"/>
            <ac:picMk id="5" creationId="{B314D063-0843-A33C-F6D6-580144075121}"/>
          </ac:picMkLst>
        </pc:picChg>
        <pc:picChg chg="add mod">
          <ac:chgData name="Iram Kauser" userId="2018ada2adf48dc3" providerId="LiveId" clId="{24E9E880-7B01-4D76-BE2A-7CF11D035EA8}" dt="2026-08-22T14:16:38.272" v="20" actId="14100"/>
          <ac:picMkLst>
            <pc:docMk/>
            <pc:sldMk cId="3695843375" sldId="275"/>
            <ac:picMk id="7" creationId="{BBEEEDA1-5ACA-5F1A-7EF0-2AEB9152F471}"/>
          </ac:picMkLst>
        </pc:picChg>
        <pc:picChg chg="add mod">
          <ac:chgData name="Iram Kauser" userId="2018ada2adf48dc3" providerId="LiveId" clId="{24E9E880-7B01-4D76-BE2A-7CF11D035EA8}" dt="2026-08-22T14:17:02.453" v="23" actId="1076"/>
          <ac:picMkLst>
            <pc:docMk/>
            <pc:sldMk cId="3695843375" sldId="275"/>
            <ac:picMk id="9" creationId="{D387E16B-26D8-D2D4-D1A6-BF70EE3A7314}"/>
          </ac:picMkLst>
        </pc:picChg>
      </pc:sldChg>
    </pc:docChg>
  </pc:docChgLst>
</pc:chgInfo>
</file>

<file path=ppt/comments/modernComment_10A_C90CC3F3.xml><?xml version="1.0" encoding="utf-8"?>
<p188:cmLst xmlns:a="http://schemas.openxmlformats.org/drawingml/2006/main" xmlns:r="http://schemas.openxmlformats.org/officeDocument/2006/relationships" xmlns:p188="http://schemas.microsoft.com/office/powerpoint/2018/8/main">
  <p188:cm id="{3CF45910-ECAA-47A9-8F7F-1D522FFF2F1F}" authorId="{69966000-E56D-E1E4-B6C1-B5D13452A597}" created="2026-08-22T13:32:48.784">
    <pc:sldMkLst xmlns:pc="http://schemas.microsoft.com/office/powerpoint/2013/main/command">
      <pc:docMk/>
      <pc:sldMk cId="3373057011" sldId="266"/>
    </pc:sldMkLst>
    <p188:txBody>
      <a:bodyPr/>
      <a:lstStyle/>
      <a:p>
        <a:r>
          <a:rPr lang="en-AE"/>
          <a:t>Match whatever we decide for the home page for this section.</a:t>
        </a:r>
      </a:p>
    </p188:txBody>
  </p188:cm>
</p188:cmLst>
</file>

<file path=ppt/comments/modernComment_10B_5203CD82.xml><?xml version="1.0" encoding="utf-8"?>
<p188:cmLst xmlns:a="http://schemas.openxmlformats.org/drawingml/2006/main" xmlns:r="http://schemas.openxmlformats.org/officeDocument/2006/relationships" xmlns:p188="http://schemas.microsoft.com/office/powerpoint/2018/8/main">
  <p188:cm id="{82432E68-5932-4417-A0F2-4393DD3FE6A2}" authorId="{69966000-E56D-E1E4-B6C1-B5D13452A597}" created="2026-08-22T13:44:06.131">
    <pc:sldMkLst xmlns:pc="http://schemas.microsoft.com/office/powerpoint/2013/main/command">
      <pc:docMk/>
      <pc:sldMk cId="1375980930" sldId="267"/>
    </pc:sldMkLst>
    <p188:txBody>
      <a:bodyPr/>
      <a:lstStyle/>
      <a:p>
        <a:r>
          <a:rPr lang="en-AE"/>
          <a:t>REMOVE THE TEXT AT THE BOTTOM OF ANIMATION</a:t>
        </a:r>
      </a:p>
    </p188:txBody>
  </p188:cm>
  <p188:cm id="{BFA3B36F-B2BC-41A7-A2F7-9E84944DFB5A}" authorId="{69966000-E56D-E1E4-B6C1-B5D13452A597}" created="2026-08-22T13:44:30.641">
    <pc:sldMkLst xmlns:pc="http://schemas.microsoft.com/office/powerpoint/2013/main/command">
      <pc:docMk/>
      <pc:sldMk cId="1375980930" sldId="267"/>
    </pc:sldMkLst>
    <p188:txBody>
      <a:bodyPr/>
      <a:lstStyle/>
      <a:p>
        <a:r>
          <a:rPr lang="en-AE"/>
          <a:t>WHAT YOU GET PART OF ALL SERVICES SHOWN LIKE THE ONE HERE, RIGHT SIDE SHADED</a:t>
        </a:r>
      </a:p>
    </p188:txBody>
  </p188:cm>
</p188:cmLst>
</file>

<file path=ppt/comments/modernComment_10C_4E009DE4.xml><?xml version="1.0" encoding="utf-8"?>
<p188:cmLst xmlns:a="http://schemas.openxmlformats.org/drawingml/2006/main" xmlns:r="http://schemas.openxmlformats.org/officeDocument/2006/relationships" xmlns:p188="http://schemas.microsoft.com/office/powerpoint/2018/8/main">
  <p188:cm id="{EB5E2EF1-AE1A-4B8F-9B1B-F180AF7544F0}" authorId="{69966000-E56D-E1E4-B6C1-B5D13452A597}" created="2026-08-22T13:43:50.480">
    <pc:sldMkLst xmlns:pc="http://schemas.microsoft.com/office/powerpoint/2013/main/command">
      <pc:docMk/>
      <pc:sldMk cId="1308663268" sldId="268"/>
    </pc:sldMkLst>
    <p188:txBody>
      <a:bodyPr/>
      <a:lstStyle/>
      <a:p>
        <a:r>
          <a:rPr lang="en-AE"/>
          <a:t>Drop down to be changed to Fractional Leadership instead of Fractional COO</a:t>
        </a:r>
      </a:p>
    </p188:txBody>
  </p188:cm>
  <p188:cm id="{67B23CCB-EB01-47DE-80F7-E26469F283AD}" authorId="{69966000-E56D-E1E4-B6C1-B5D13452A597}" created="2026-08-22T13:49:37.016">
    <ac:deMkLst xmlns:ac="http://schemas.microsoft.com/office/drawing/2013/main/command">
      <pc:docMk xmlns:pc="http://schemas.microsoft.com/office/powerpoint/2013/main/command"/>
      <pc:sldMk xmlns:pc="http://schemas.microsoft.com/office/powerpoint/2013/main/command" cId="1308663268" sldId="268"/>
      <ac:picMk id="5" creationId="{3CD3A287-8C02-BA79-8865-C046BB5794E7}"/>
    </ac:deMkLst>
    <p188:txBody>
      <a:bodyPr/>
      <a:lstStyle/>
      <a:p>
        <a:r>
          <a:rPr lang="en-AE"/>
          <a:t>Why this exists, we have to squeeze in somewhere.</a:t>
        </a:r>
      </a:p>
    </p188:txBody>
  </p188:cm>
  <p188:cm id="{0A8E63D3-BF61-4977-B10A-9CDFBC136DE1}" authorId="{69966000-E56D-E1E4-B6C1-B5D13452A597}" created="2026-08-22T14:12:13.918">
    <pc:sldMkLst xmlns:pc="http://schemas.microsoft.com/office/powerpoint/2013/main/command">
      <pc:docMk/>
      <pc:sldMk cId="1308663268" sldId="268"/>
    </pc:sldMkLst>
    <p188:txBody>
      <a:bodyPr/>
      <a:lstStyle/>
      <a:p>
        <a:r>
          <a:rPr lang="en-AE"/>
          <a:t>Graph changed slightly will send you new services page animations, this one Is better for the fractional leadership.</a:t>
        </a:r>
      </a:p>
    </p188:txBody>
  </p188:cm>
</p188:cmLst>
</file>

<file path=ppt/comments/modernComment_10D_BEAF2AED.xml><?xml version="1.0" encoding="utf-8"?>
<p188:cmLst xmlns:a="http://schemas.openxmlformats.org/drawingml/2006/main" xmlns:r="http://schemas.openxmlformats.org/officeDocument/2006/relationships" xmlns:p188="http://schemas.microsoft.com/office/powerpoint/2018/8/main">
  <p188:cm id="{684DCD4A-1ED0-4191-AC85-933919EC86DD}" authorId="{69966000-E56D-E1E4-B6C1-B5D13452A597}" created="2026-08-22T14:47:07.201">
    <pc:sldMkLst xmlns:pc="http://schemas.microsoft.com/office/powerpoint/2013/main/command">
      <pc:docMk/>
      <pc:sldMk cId="3199150829" sldId="269"/>
    </pc:sldMkLst>
    <p188:txBody>
      <a:bodyPr/>
      <a:lstStyle/>
      <a:p>
        <a:r>
          <a:rPr lang="en-AE"/>
          <a:t>Remove the Watch the seats fill.</a:t>
        </a:r>
      </a:p>
    </p188:txBody>
  </p188:cm>
  <p188:cm id="{3428956C-45EF-4718-99A1-C6520B61C311}" authorId="{69966000-E56D-E1E4-B6C1-B5D13452A597}" created="2026-08-22T14:47:23.264">
    <pc:sldMkLst xmlns:pc="http://schemas.microsoft.com/office/powerpoint/2013/main/command">
      <pc:docMk/>
      <pc:sldMk cId="3199150829" sldId="269"/>
    </pc:sldMkLst>
    <p188:txBody>
      <a:bodyPr/>
      <a:lstStyle/>
      <a:p>
        <a:r>
          <a:rPr lang="en-AE"/>
          <a:t>Add the Fractional COO</a:t>
        </a:r>
      </a:p>
    </p188:txBody>
  </p188:cm>
  <p188:cm id="{865224E9-4774-4CC8-ACF6-41860FF71A49}" authorId="{69966000-E56D-E1E4-B6C1-B5D13452A597}" created="2026-08-22T14:47:41.123">
    <pc:sldMkLst xmlns:pc="http://schemas.microsoft.com/office/powerpoint/2013/main/command">
      <pc:docMk/>
      <pc:sldMk cId="3199150829" sldId="269"/>
    </pc:sldMkLst>
    <p188:txBody>
      <a:bodyPr/>
      <a:lstStyle/>
      <a:p>
        <a:r>
          <a:rPr lang="en-AE"/>
          <a:t>Change Project Manager (capital M)</a:t>
        </a:r>
      </a:p>
    </p188:txBody>
  </p188:cm>
  <p188:cm id="{7C0D6166-8012-4E1F-A5D1-41C54815F36B}" authorId="{69966000-E56D-E1E4-B6C1-B5D13452A597}" created="2026-08-22T14:48:05.200">
    <pc:sldMkLst xmlns:pc="http://schemas.microsoft.com/office/powerpoint/2013/main/command">
      <pc:docMk/>
      <pc:sldMk cId="3199150829" sldId="269"/>
    </pc:sldMkLst>
    <p188:txBody>
      <a:bodyPr/>
      <a:lstStyle/>
      <a:p>
        <a:r>
          <a:rPr lang="en-AE"/>
          <a:t>Software Engineer, instead of Engineer.</a:t>
        </a:r>
      </a:p>
    </p188:txBody>
  </p188:cm>
  <p188:cm id="{CF1C0DCA-9E88-4552-B171-45517F84F2DB}" authorId="{69966000-E56D-E1E4-B6C1-B5D13452A597}" created="2026-08-22T15:06:13.804">
    <pc:sldMkLst xmlns:pc="http://schemas.microsoft.com/office/powerpoint/2013/main/command">
      <pc:docMk/>
      <pc:sldMk cId="3199150829" sldId="269"/>
    </pc:sldMkLst>
    <p188:txBody>
      <a:bodyPr/>
      <a:lstStyle/>
      <a:p>
        <a:r>
          <a:rPr lang="en-AE"/>
          <a:t>Text on the animation at the bottom, remove that.</a:t>
        </a:r>
      </a:p>
    </p188:txBody>
  </p188:cm>
</p188:cmLst>
</file>

<file path=ppt/comments/modernComment_10E_379CDB71.xml><?xml version="1.0" encoding="utf-8"?>
<p188:cmLst xmlns:a="http://schemas.openxmlformats.org/drawingml/2006/main" xmlns:r="http://schemas.openxmlformats.org/officeDocument/2006/relationships" xmlns:p188="http://schemas.microsoft.com/office/powerpoint/2018/8/main">
  <p188:cm id="{77CC4FA0-7F4C-47F1-8834-34370C2591BA}" authorId="{69966000-E56D-E1E4-B6C1-B5D13452A597}" created="2026-08-22T13:59:02.612">
    <pc:sldMkLst xmlns:pc="http://schemas.microsoft.com/office/powerpoint/2013/main/command">
      <pc:docMk/>
      <pc:sldMk cId="933026673" sldId="270"/>
    </pc:sldMkLst>
    <p188:txBody>
      <a:bodyPr/>
      <a:lstStyle/>
      <a:p>
        <a:r>
          <a:rPr lang="en-AE"/>
          <a:t>Change the eyebrow heading to FOR FOUNDERS.</a:t>
        </a:r>
      </a:p>
    </p188:txBody>
  </p188:cm>
  <p188:cm id="{39AF3089-D2FF-43DB-B726-199D1B8F8D21}" authorId="{69966000-E56D-E1E4-B6C1-B5D13452A597}" created="2026-08-22T13:59:29.169">
    <pc:sldMkLst xmlns:pc="http://schemas.microsoft.com/office/powerpoint/2013/main/command">
      <pc:docMk/>
      <pc:sldMk cId="933026673" sldId="270"/>
    </pc:sldMkLst>
    <p188:txBody>
      <a:bodyPr/>
      <a:lstStyle/>
      <a:p>
        <a:r>
          <a:rPr lang="en-AE"/>
          <a:t>Keep only the heading and subheading the bit in the box….all the other words can be deleted.</a:t>
        </a:r>
      </a:p>
    </p188:txBody>
  </p188:cm>
  <p188:cm id="{4747596C-501B-4638-A2EE-FAD2890461DB}" authorId="{69966000-E56D-E1E4-B6C1-B5D13452A597}" created="2026-08-22T14:04:57.452">
    <pc:sldMkLst xmlns:pc="http://schemas.microsoft.com/office/powerpoint/2013/main/command">
      <pc:docMk/>
      <pc:sldMk cId="933026673" sldId="270"/>
    </pc:sldMkLst>
    <p188:txBody>
      <a:bodyPr/>
      <a:lstStyle/>
      <a:p>
        <a:r>
          <a:rPr lang="en-AE"/>
          <a:t>For the SME page, follow this too, keep headings and box.</a:t>
        </a:r>
      </a:p>
    </p188:txBody>
  </p188:cm>
</p188:cmLst>
</file>

<file path=ppt/comments/modernComment_10F_C29889C.xml><?xml version="1.0" encoding="utf-8"?>
<p188:cmLst xmlns:a="http://schemas.openxmlformats.org/drawingml/2006/main" xmlns:r="http://schemas.openxmlformats.org/officeDocument/2006/relationships" xmlns:p188="http://schemas.microsoft.com/office/powerpoint/2018/8/main">
  <p188:cm id="{B0B8CD61-966D-4E74-9534-53B5FD77EDBD}" authorId="{69966000-E56D-E1E4-B6C1-B5D13452A597}" created="2026-08-22T15:07:20.331">
    <pc:sldMkLst xmlns:pc="http://schemas.microsoft.com/office/powerpoint/2013/main/command">
      <pc:docMk/>
      <pc:sldMk cId="204048540" sldId="271"/>
    </pc:sldMkLst>
    <p188:txBody>
      <a:bodyPr/>
      <a:lstStyle/>
      <a:p>
        <a:r>
          <a:rPr lang="en-AE"/>
          <a:t>Keep the top bit but Saif to put all his work or design this however he wants to showcasing all his work.</a:t>
        </a:r>
      </a:p>
    </p188:txBody>
  </p188:cm>
</p188:cmLst>
</file>

<file path=ppt/comments/modernComment_100_AC6DEA79.xml><?xml version="1.0" encoding="utf-8"?>
<p188:cmLst xmlns:a="http://schemas.openxmlformats.org/drawingml/2006/main" xmlns:r="http://schemas.openxmlformats.org/officeDocument/2006/relationships" xmlns:p188="http://schemas.microsoft.com/office/powerpoint/2018/8/main">
  <p188:cm id="{7770AD7C-6E2A-4F6E-AD90-39540C5864B5}" authorId="{69966000-E56D-E1E4-B6C1-B5D13452A597}" created="2026-08-21T10:04:37.004">
    <ac:deMkLst xmlns:ac="http://schemas.microsoft.com/office/drawing/2013/main/command">
      <pc:docMk xmlns:pc="http://schemas.microsoft.com/office/powerpoint/2013/main/command"/>
      <pc:sldMk xmlns:pc="http://schemas.microsoft.com/office/powerpoint/2013/main/command" cId="2892884601" sldId="256"/>
      <ac:picMk id="5" creationId="{3C2F8ED1-880F-4FCB-F375-6665314A87EE}"/>
    </ac:deMkLst>
    <p188:txBody>
      <a:bodyPr/>
      <a:lstStyle/>
      <a:p>
        <a:r>
          <a:rPr lang="en-AE"/>
          <a:t>Top bar to be in different colours and see which one looks better and also have a small rounding so its more rectangular.
The pivot prime proper logo to be used.
Use video in the back, 
Strategy, Operations, technology, execution at the top.
Different fonts or italics for the most consultants… all looking like one…
Then text is only we find out what is holding your business back….
Change to Confirm you don’t need our help, or don’t think you need us, found out what we actually do...</a:t>
        </a:r>
      </a:p>
    </p188:txBody>
  </p188:cm>
</p188:cmLst>
</file>

<file path=ppt/comments/modernComment_101_66AFD6.xml><?xml version="1.0" encoding="utf-8"?>
<p188:cmLst xmlns:a="http://schemas.openxmlformats.org/drawingml/2006/main" xmlns:r="http://schemas.openxmlformats.org/officeDocument/2006/relationships" xmlns:p188="http://schemas.microsoft.com/office/powerpoint/2018/8/main">
  <p188:cm id="{AADE06A6-7C87-4FA3-88F8-4F1D417B64AE}" authorId="{69966000-E56D-E1E4-B6C1-B5D13452A597}" created="2026-08-21T10:06:11.467">
    <pc:sldMkLst xmlns:pc="http://schemas.microsoft.com/office/powerpoint/2013/main/command">
      <pc:docMk/>
      <pc:sldMk cId="6729686" sldId="257"/>
    </pc:sldMkLst>
    <p188:txBody>
      <a:bodyPr/>
      <a:lstStyle/>
      <a:p>
        <a:r>
          <a:rPr lang="en-AE"/>
          <a:t>Fix the logos part and make them look much better, get proper logos again if needed as this part is looking cheap.
If rest is not centre aligned then this also shouldn’t be as it looks off against next sections.</a:t>
        </a:r>
      </a:p>
    </p188:txBody>
  </p188:cm>
</p188:cmLst>
</file>

<file path=ppt/comments/modernComment_102_82125DB.xml><?xml version="1.0" encoding="utf-8"?>
<p188:cmLst xmlns:a="http://schemas.openxmlformats.org/drawingml/2006/main" xmlns:r="http://schemas.openxmlformats.org/officeDocument/2006/relationships" xmlns:p188="http://schemas.microsoft.com/office/powerpoint/2018/8/main">
  <p188:cm id="{90FC41DE-861B-41F3-8767-EE88DD4A78AA}" authorId="{69966000-E56D-E1E4-B6C1-B5D13452A597}" created="2026-08-21T10:21:21.898">
    <pc:sldMkLst xmlns:pc="http://schemas.microsoft.com/office/powerpoint/2013/main/command">
      <pc:docMk/>
      <pc:sldMk cId="136390107" sldId="258"/>
    </pc:sldMkLst>
    <p188:txBody>
      <a:bodyPr/>
      <a:lstStyle/>
      <a:p>
        <a:r>
          <a:rPr lang="en-AE"/>
          <a:t>Really good idea, but just need Different visual language for each KPI
Also change wording about to we do not measure success in slide decks, we measure what has changed.</a:t>
        </a:r>
      </a:p>
    </p188:txBody>
  </p188:cm>
  <p188:cm id="{D9462A58-75F9-49FD-919D-5996A3819E11}" authorId="{69966000-E56D-E1E4-B6C1-B5D13452A597}" created="2026-08-21T10:30:44.319">
    <ac:deMkLst xmlns:ac="http://schemas.microsoft.com/office/drawing/2013/main/command">
      <pc:docMk xmlns:pc="http://schemas.microsoft.com/office/powerpoint/2013/main/command"/>
      <pc:sldMk xmlns:pc="http://schemas.microsoft.com/office/powerpoint/2013/main/command" cId="136390107" sldId="258"/>
      <ac:picMk id="5" creationId="{53E54E5B-DF07-A93F-3235-D98267392E2F}"/>
    </ac:deMkLst>
    <p188:txBody>
      <a:bodyPr/>
      <a:lstStyle/>
      <a:p>
        <a:r>
          <a:rPr lang="en-AE"/>
          <a:t>Lets try few new colour ways with all the colours shown here we have few background options instead of white cold..we can use the ivory</a:t>
        </a:r>
      </a:p>
    </p188:txBody>
  </p188:cm>
  <p188:cm id="{9CF54B82-4AB6-4F5E-AB2E-053EAF22E189}" authorId="{69966000-E56D-E1E4-B6C1-B5D13452A597}" created="2026-08-21T10:35:01.940">
    <ac:deMkLst xmlns:ac="http://schemas.microsoft.com/office/drawing/2013/main/command">
      <pc:docMk xmlns:pc="http://schemas.microsoft.com/office/powerpoint/2013/main/command"/>
      <pc:sldMk xmlns:pc="http://schemas.microsoft.com/office/powerpoint/2013/main/command" cId="136390107" sldId="258"/>
      <ac:picMk id="7" creationId="{673A20EF-FAF7-F9F9-7240-B5E9415E9C69}"/>
    </ac:deMkLst>
    <p188:txBody>
      <a:bodyPr/>
      <a:lstStyle/>
      <a:p>
        <a:r>
          <a:rPr lang="en-AE"/>
          <a:t>Html provided to make these</a:t>
        </a:r>
      </a:p>
    </p188:txBody>
  </p188:cm>
</p188:cmLst>
</file>

<file path=ppt/comments/modernComment_103_D71501BA.xml><?xml version="1.0" encoding="utf-8"?>
<p188:cmLst xmlns:a="http://schemas.openxmlformats.org/drawingml/2006/main" xmlns:r="http://schemas.openxmlformats.org/officeDocument/2006/relationships" xmlns:p188="http://schemas.microsoft.com/office/powerpoint/2018/8/main">
  <p188:cm id="{651E8433-08A2-4092-90DE-A7F0200195FA}" authorId="{69966000-E56D-E1E4-B6C1-B5D13452A597}" created="2026-08-21T17:58:51.284">
    <pc:sldMkLst xmlns:pc="http://schemas.microsoft.com/office/powerpoint/2013/main/command">
      <pc:docMk/>
      <pc:sldMk cId="3608478138" sldId="259"/>
    </pc:sldMkLst>
    <p188:txBody>
      <a:bodyPr/>
      <a:lstStyle/>
      <a:p>
        <a:r>
          <a:rPr lang="en-AE"/>
          <a:t>Just colour the cards differently </a:t>
        </a:r>
      </a:p>
    </p188:txBody>
  </p188:cm>
</p188:cmLst>
</file>

<file path=ppt/comments/modernComment_105_CD9DC6E.xml><?xml version="1.0" encoding="utf-8"?>
<p188:cmLst xmlns:a="http://schemas.openxmlformats.org/drawingml/2006/main" xmlns:r="http://schemas.openxmlformats.org/officeDocument/2006/relationships" xmlns:p188="http://schemas.microsoft.com/office/powerpoint/2018/8/main">
  <p188:cm id="{88103F52-CE5F-4E68-98CE-7FD8D8189C32}" authorId="{69966000-E56D-E1E4-B6C1-B5D13452A597}" created="2026-08-21T18:20:24.298">
    <pc:sldMkLst xmlns:pc="http://schemas.microsoft.com/office/powerpoint/2013/main/command">
      <pc:docMk/>
      <pc:sldMk cId="215604334" sldId="261"/>
    </pc:sldMkLst>
    <p188:txBody>
      <a:bodyPr/>
      <a:lstStyle/>
      <a:p>
        <a:r>
          <a:rPr lang="en-AE"/>
          <a:t>Remove this section</a:t>
        </a:r>
      </a:p>
    </p188:txBody>
  </p188:cm>
</p188:cmLst>
</file>

<file path=ppt/comments/modernComment_107_128896DA.xml><?xml version="1.0" encoding="utf-8"?>
<p188:cmLst xmlns:a="http://schemas.openxmlformats.org/drawingml/2006/main" xmlns:r="http://schemas.openxmlformats.org/officeDocument/2006/relationships" xmlns:p188="http://schemas.microsoft.com/office/powerpoint/2018/8/main">
  <p188:cm id="{6E1BD95C-79A9-48D2-97D7-B50E54C4B1FB}" authorId="{69966000-E56D-E1E4-B6C1-B5D13452A597}" created="2026-08-22T12:30:34.341">
    <pc:sldMkLst xmlns:pc="http://schemas.microsoft.com/office/powerpoint/2013/main/command">
      <pc:docMk/>
      <pc:sldMk cId="310941402" sldId="263"/>
    </pc:sldMkLst>
    <p188:txBody>
      <a:bodyPr/>
      <a:lstStyle/>
      <a:p>
        <a:r>
          <a:rPr lang="en-AE"/>
          <a:t>Instead of chapter 2, let’s put case studies</a:t>
        </a:r>
      </a:p>
    </p188:txBody>
  </p188:cm>
  <p188:cm id="{A9EA66E5-39AA-49BD-BF4F-6D98A3060CBA}" authorId="{69966000-E56D-E1E4-B6C1-B5D13452A597}" created="2026-08-22T12:38:30.749">
    <ac:deMkLst xmlns:ac="http://schemas.microsoft.com/office/drawing/2013/main/command">
      <pc:docMk xmlns:pc="http://schemas.microsoft.com/office/powerpoint/2013/main/command"/>
      <pc:sldMk xmlns:pc="http://schemas.microsoft.com/office/powerpoint/2013/main/command" cId="310941402" sldId="263"/>
      <ac:picMk id="11" creationId="{0B0A6744-20EA-DD18-E903-FB861E02B4DB}"/>
    </ac:deMkLst>
    <p188:txBody>
      <a:bodyPr/>
      <a:lstStyle/>
      <a:p>
        <a:r>
          <a:rPr lang="en-AE"/>
          <a:t>The pictures to use for each case study 1 and 2 I have shared separately to you in email.</a:t>
        </a:r>
      </a:p>
    </p188:txBody>
  </p188:cm>
  <p188:cm id="{669DB3F4-E98C-4CA4-80B1-26676B40E7DD}" authorId="{69966000-E56D-E1E4-B6C1-B5D13452A597}" created="2026-08-22T12:45:18.608">
    <ac:deMkLst xmlns:ac="http://schemas.microsoft.com/office/drawing/2013/main/command">
      <pc:docMk xmlns:pc="http://schemas.microsoft.com/office/powerpoint/2013/main/command"/>
      <pc:sldMk xmlns:pc="http://schemas.microsoft.com/office/powerpoint/2013/main/command" cId="310941402" sldId="263"/>
      <ac:picMk id="11" creationId="{0B0A6744-20EA-DD18-E903-FB861E02B4DB}"/>
    </ac:deMkLst>
    <p188:txBody>
      <a:bodyPr/>
      <a:lstStyle/>
      <a:p>
        <a:r>
          <a:rPr lang="en-AE"/>
          <a:t>The quote from me should be - "We are a team that genuinely enjoys getting into a business and making it work better, and we care just as much about seeing our clients thrive as they do. That is why we will always tell you what we actually think, even when it is not what you were hoping to hear. Doing right by our clients is not a policy, it’s who we are.</a:t>
        </a:r>
      </a:p>
    </p188:txBody>
  </p188:cm>
  <p188:cm id="{495947B4-DC72-431F-B722-E0A07CE6954A}" authorId="{69966000-E56D-E1E4-B6C1-B5D13452A597}" created="2026-08-22T12:46:14.777">
    <ac:deMkLst xmlns:ac="http://schemas.microsoft.com/office/drawing/2013/main/command">
      <pc:docMk xmlns:pc="http://schemas.microsoft.com/office/powerpoint/2013/main/command"/>
      <pc:sldMk xmlns:pc="http://schemas.microsoft.com/office/powerpoint/2013/main/command" cId="310941402" sldId="263"/>
      <ac:picMk id="11" creationId="{0B0A6744-20EA-DD18-E903-FB861E02B4DB}"/>
    </ac:deMkLst>
    <p188:txBody>
      <a:bodyPr/>
      <a:lstStyle/>
      <a:p>
        <a:r>
          <a:rPr lang="en-AE"/>
          <a:t>Second anonymised case study text is  - The founder was approving every decision. The team had capability but it lacked clear ownership. We mapped what should and shouldn't escalate, then redesigned roles around judgement, not just task delivery.</a:t>
        </a:r>
      </a:p>
    </p188:txBody>
  </p188:cm>
  <p188:cm id="{67ACB949-9009-4455-AE8B-B794C23B177A}" authorId="{69966000-E56D-E1E4-B6C1-B5D13452A597}" created="2026-08-22T12:46:59.663">
    <ac:deMkLst xmlns:ac="http://schemas.microsoft.com/office/drawing/2013/main/command">
      <pc:docMk xmlns:pc="http://schemas.microsoft.com/office/powerpoint/2013/main/command"/>
      <pc:sldMk xmlns:pc="http://schemas.microsoft.com/office/powerpoint/2013/main/command" cId="310941402" sldId="263"/>
      <ac:picMk id="11" creationId="{0B0A6744-20EA-DD18-E903-FB861E02B4DB}"/>
    </ac:deMkLst>
    <p188:txBody>
      <a:bodyPr/>
      <a:lstStyle/>
      <a:p>
        <a:r>
          <a:rPr lang="en-AE"/>
          <a:t>Third anonymised should read - Strong demand, loyal core, but churn was rising and nobody could pinpoint it. The team was focused on new sign-ups while existing members quietly left. We rebuilt retention around experience, behaviour, and team incentives.</a:t>
        </a:r>
      </a:p>
    </p188:txBody>
  </p188:cm>
  <p188:cm id="{69083C67-9F4C-467A-8D81-6DB8A500A2BC}" authorId="{69966000-E56D-E1E4-B6C1-B5D13452A597}" created="2026-08-22T12:47:15.072">
    <ac:deMkLst xmlns:ac="http://schemas.microsoft.com/office/drawing/2013/main/command">
      <pc:docMk xmlns:pc="http://schemas.microsoft.com/office/powerpoint/2013/main/command"/>
      <pc:sldMk xmlns:pc="http://schemas.microsoft.com/office/powerpoint/2013/main/command" cId="310941402" sldId="263"/>
      <ac:picMk id="11" creationId="{0B0A6744-20EA-DD18-E903-FB861E02B4DB}"/>
    </ac:deMkLst>
    <p188:txBody>
      <a:bodyPr/>
      <a:lstStyle/>
      <a:p>
        <a:r>
          <a:rPr lang="en-AE"/>
          <a:t>Try to have some of Saif’s work shown in here too? Of course more can be on the tech builds page but here at least one case study?</a:t>
        </a:r>
      </a:p>
    </p188:txBody>
  </p188:cm>
</p188:cmLst>
</file>

<file path=ppt/comments/modernComment_108_89E1D296.xml><?xml version="1.0" encoding="utf-8"?>
<p188:cmLst xmlns:a="http://schemas.openxmlformats.org/drawingml/2006/main" xmlns:r="http://schemas.openxmlformats.org/officeDocument/2006/relationships" xmlns:p188="http://schemas.microsoft.com/office/powerpoint/2018/8/main">
  <p188:cm id="{6299B54D-A5DA-45F2-8436-3F92D7D0DD7A}" authorId="{69966000-E56D-E1E4-B6C1-B5D13452A597}" created="2026-08-22T12:50:20.419">
    <pc:sldMkLst xmlns:pc="http://schemas.microsoft.com/office/powerpoint/2013/main/command">
      <pc:docMk/>
      <pc:sldMk cId="2313278102" sldId="264"/>
    </pc:sldMkLst>
    <p188:txBody>
      <a:bodyPr/>
      <a:lstStyle/>
      <a:p>
        <a:r>
          <a:rPr lang="en-AE"/>
          <a:t>Shouldn’t be chapter anything - only WHO WE SERVE. And put stretched founder first please, then SME, then corporate innovator and lastly the mid market execution owner.</a:t>
        </a:r>
      </a:p>
    </p188:txBody>
  </p188:cm>
  <p188:cm id="{6A090909-2B15-4991-8EB0-6E41C6A403F1}" authorId="{69966000-E56D-E1E4-B6C1-B5D13452A597}" created="2026-08-22T12:53:30.306">
    <ac:deMkLst xmlns:ac="http://schemas.microsoft.com/office/drawing/2013/main/command">
      <pc:docMk xmlns:pc="http://schemas.microsoft.com/office/powerpoint/2013/main/command"/>
      <pc:sldMk xmlns:pc="http://schemas.microsoft.com/office/powerpoint/2013/main/command" cId="2313278102" sldId="264"/>
      <ac:picMk id="6" creationId="{0B938582-C014-80FA-02FA-6F3F6E216ACD}"/>
    </ac:deMkLst>
    <p188:replyLst>
      <p188:reply id="{F75A91FF-8932-4582-988D-8D74277D93FE}" authorId="{69966000-E56D-E1E4-B6C1-B5D13452A597}" created="2026-08-22T12:54:27.774">
        <p188:txBody>
          <a:bodyPr/>
          <a:lstStyle/>
          <a:p>
            <a:r>
              <a:rPr lang="en-AE"/>
              <a:t>Industries all to be in caps e.g. Regional Retail Group.</a:t>
            </a:r>
          </a:p>
        </p188:txBody>
      </p188:reply>
    </p188:replyLst>
    <p188:txBody>
      <a:bodyPr/>
      <a:lstStyle/>
      <a:p>
        <a:r>
          <a:rPr lang="en-AE"/>
          <a:t>For corporate innovator quote put Qatar not Riyadh</a:t>
        </a:r>
      </a:p>
    </p188:txBody>
  </p188:cm>
  <p188:cm id="{018873F3-DB14-4A83-A351-425152152A93}" authorId="{69966000-E56D-E1E4-B6C1-B5D13452A597}" created="2026-08-22T13:05:23.890">
    <pc:sldMkLst xmlns:pc="http://schemas.microsoft.com/office/powerpoint/2013/main/command">
      <pc:docMk/>
      <pc:sldMk cId="2313278102" sldId="264"/>
    </pc:sldMkLst>
    <p188:txBody>
      <a:bodyPr/>
      <a:lstStyle/>
      <a:p>
        <a:r>
          <a:rPr lang="en-AE"/>
          <a:t>The quote boxes maybe in the lighter green to stand out bit more.</a:t>
        </a:r>
      </a:p>
    </p188:txBody>
  </p188:cm>
</p188:cmLst>
</file>

<file path=ppt/comments/modernComment_109_5BE9B630.xml><?xml version="1.0" encoding="utf-8"?>
<p188:cmLst xmlns:a="http://schemas.openxmlformats.org/drawingml/2006/main" xmlns:r="http://schemas.openxmlformats.org/officeDocument/2006/relationships" xmlns:p188="http://schemas.microsoft.com/office/powerpoint/2018/8/main">
  <p188:cm id="{FB61789E-ADBC-4F7C-92C5-65B034E3D00F}" authorId="{69966000-E56D-E1E4-B6C1-B5D13452A597}" created="2026-08-22T12:56:02.685">
    <pc:sldMkLst xmlns:pc="http://schemas.microsoft.com/office/powerpoint/2013/main/command">
      <pc:docMk/>
      <pc:sldMk cId="1542043184" sldId="265"/>
    </pc:sldMkLst>
    <p188:replyLst>
      <p188:reply id="{83C14F2C-CE30-46BE-9414-8214024CE5F4}" authorId="{69966000-E56D-E1E4-B6C1-B5D13452A597}" created="2026-08-22T13:27:25.171">
        <p188:txBody>
          <a:bodyPr/>
          <a:lstStyle/>
          <a:p>
            <a:r>
              <a:rPr lang="en-AE"/>
              <a:t>A bit more writing needed and some larger quote boxes here.</a:t>
            </a:r>
          </a:p>
        </p188:txBody>
      </p188:reply>
    </p188:replyLst>
    <p188:txBody>
      <a:bodyPr/>
      <a:lstStyle/>
      <a:p>
        <a:r>
          <a:rPr lang="en-AE"/>
          <a:t>Eyebrow heading to just say OUR FEES</a:t>
        </a:r>
      </a:p>
    </p188:txBody>
  </p188:cm>
</p188:cmLst>
</file>

<file path=ppt/comments/modernComment_110_A524503B.xml><?xml version="1.0" encoding="utf-8"?>
<p188:cmLst xmlns:a="http://schemas.openxmlformats.org/drawingml/2006/main" xmlns:r="http://schemas.openxmlformats.org/officeDocument/2006/relationships" xmlns:p188="http://schemas.microsoft.com/office/powerpoint/2018/8/main">
  <p188:cm id="{88BEDC86-1728-4A57-BE7E-C5E0096BBB46}" authorId="{69966000-E56D-E1E4-B6C1-B5D13452A597}" created="2026-08-22T15:10:19.181">
    <pc:sldMkLst xmlns:pc="http://schemas.microsoft.com/office/powerpoint/2013/main/command">
      <pc:docMk/>
      <pc:sldMk cId="2770620475" sldId="272"/>
    </pc:sldMkLst>
    <p188:txBody>
      <a:bodyPr/>
      <a:lstStyle/>
      <a:p>
        <a:r>
          <a:rPr lang="en-AE"/>
          <a:t>Change to we are not interested in launching a business in the UAE which will fail.
Then subheading - if after assessment, we feel your business will fail here, we will tell you to save your money and not enter this market or most of the time we will show you how you can make it work.</a:t>
        </a:r>
      </a:p>
    </p188:txBody>
  </p188:cm>
</p188:cmLst>
</file>

<file path=ppt/comments/modernComment_111_565B6C56.xml><?xml version="1.0" encoding="utf-8"?>
<p188:cmLst xmlns:a="http://schemas.openxmlformats.org/drawingml/2006/main" xmlns:r="http://schemas.openxmlformats.org/officeDocument/2006/relationships" xmlns:p188="http://schemas.microsoft.com/office/powerpoint/2018/8/main">
  <p188:cm id="{5BF2E475-9D5D-4BD6-AA8D-6CE3AE38CC7D}" authorId="{69966000-E56D-E1E4-B6C1-B5D13452A597}" created="2026-08-22T13:55:00.025">
    <pc:sldMkLst xmlns:pc="http://schemas.microsoft.com/office/powerpoint/2013/main/command">
      <pc:docMk/>
      <pc:sldMk cId="1448832086" sldId="273"/>
    </pc:sldMkLst>
    <p188:txBody>
      <a:bodyPr/>
      <a:lstStyle/>
      <a:p>
        <a:r>
          <a:rPr lang="en-AE"/>
          <a:t>Hide this or delete for now but would like to save what it says in case we want to use later? For now its not needed.</a:t>
        </a:r>
      </a:p>
    </p188:txBody>
  </p188:cm>
</p188:cmLst>
</file>

<file path=ppt/comments/modernComment_112_E5CAA07D.xml><?xml version="1.0" encoding="utf-8"?>
<p188:cmLst xmlns:a="http://schemas.openxmlformats.org/drawingml/2006/main" xmlns:r="http://schemas.openxmlformats.org/officeDocument/2006/relationships" xmlns:p188="http://schemas.microsoft.com/office/powerpoint/2018/8/main">
  <p188:cm id="{E4FAC64D-CA65-467E-9A4D-02C11FFDE078}" authorId="{69966000-E56D-E1E4-B6C1-B5D13452A597}" created="2026-08-22T14:12:28.106">
    <pc:sldMkLst xmlns:pc="http://schemas.microsoft.com/office/powerpoint/2013/main/command">
      <pc:docMk/>
      <pc:sldMk cId="3855261821" sldId="274"/>
    </pc:sldMkLst>
    <p188:txBody>
      <a:bodyPr/>
      <a:lstStyle/>
      <a:p>
        <a:r>
          <a:rPr lang="en-AE"/>
          <a:t>Title: "Senior judgment, on call"
Subtitle: "Through Fractional Leadership Services. A confidential resource to pressure-test decisions before they cost you." for the last one in corporate innovators
</a:t>
        </a:r>
      </a:p>
    </p188:txBody>
  </p188:cm>
  <p188:cm id="{FA4CABB9-5FAD-436D-8EB4-463B39ECBF00}" authorId="{69966000-E56D-E1E4-B6C1-B5D13452A597}" created="2026-08-22T14:14:05.911">
    <ac:deMkLst xmlns:ac="http://schemas.microsoft.com/office/drawing/2013/main/command">
      <pc:docMk xmlns:pc="http://schemas.microsoft.com/office/powerpoint/2013/main/command"/>
      <pc:sldMk xmlns:pc="http://schemas.microsoft.com/office/powerpoint/2013/main/command" cId="3855261821" sldId="274"/>
      <ac:picMk id="5" creationId="{8DEE6B37-F826-BE51-4960-EEC1BDE2AB8D}"/>
    </ac:deMkLst>
    <p188:txBody>
      <a:bodyPr/>
      <a:lstStyle/>
      <a:p>
        <a:r>
          <a:rPr lang="en-AE"/>
          <a:t>In the side box, you can write, the typical engagement is monthly or ad hoc, this is like having an Executive Board that you can consult when you need.</a:t>
        </a:r>
      </a:p>
    </p188:txBody>
  </p188:cm>
</p188:cmLst>
</file>

<file path=ppt/comments/modernComment_113_DC4A182F.xml><?xml version="1.0" encoding="utf-8"?>
<p188:cmLst xmlns:a="http://schemas.openxmlformats.org/drawingml/2006/main" xmlns:r="http://schemas.openxmlformats.org/officeDocument/2006/relationships" xmlns:p188="http://schemas.microsoft.com/office/powerpoint/2018/8/main">
  <p188:cm id="{11FAEAA8-3F60-4E4E-85AF-36469D167412}" authorId="{69966000-E56D-E1E4-B6C1-B5D13452A597}" created="2026-08-22T14:33:31.988">
    <pc:sldMkLst xmlns:pc="http://schemas.microsoft.com/office/powerpoint/2013/main/command">
      <pc:docMk/>
      <pc:sldMk cId="3695843375" sldId="275"/>
    </pc:sldMkLst>
    <p188:replyLst>
      <p188:reply id="{8ADE41D1-C93F-4057-A85B-9876399F217B}" authorId="{69966000-E56D-E1E4-B6C1-B5D13452A597}" created="2026-08-22T14:42:50.109">
        <p188:txBody>
          <a:bodyPr/>
          <a:lstStyle/>
          <a:p>
            <a:r>
              <a:rPr lang="en-AE"/>
              <a:t>Card 1 — currently: "Competitive Focus &amp; Advantage Reset"
Title: "Why your unit isn't moving faster than the market"
Subtitle: A reset of where capital, leadership attention, and effort are actually going — and what to cut.
Card 2 — currently: "Executive Leverage &amp; Strategy Carry-Through"
Title: "Your decisions don’t survive the next layers of the organisation"
Subtitle: Senior-level support that closes the gap between what gets decided and what actually lands.
Card 3 — currently: "Scaled Execution &amp; Intelligent Modernisation"
Title: "Grow output without growing the cost base"
Subtitle: Smarter operating design, targeted automation, and AI adoption — applied where it actually reduces drag.</a:t>
            </a:r>
          </a:p>
        </p188:txBody>
      </p188:reply>
    </p188:replyLst>
    <p188:txBody>
      <a:bodyPr/>
      <a:lstStyle/>
      <a:p>
        <a:r>
          <a:rPr lang="en-AE"/>
          <a:t>On the main home page too it should read as P&amp;L owners
</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055FD-571C-3337-D34E-33D41A99FBC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E"/>
          </a:p>
        </p:txBody>
      </p:sp>
      <p:sp>
        <p:nvSpPr>
          <p:cNvPr id="3" name="Subtitle 2">
            <a:extLst>
              <a:ext uri="{FF2B5EF4-FFF2-40B4-BE49-F238E27FC236}">
                <a16:creationId xmlns:a16="http://schemas.microsoft.com/office/drawing/2014/main" id="{D8A5BF5C-8587-C47A-A6F6-FE064A71C5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E"/>
          </a:p>
        </p:txBody>
      </p:sp>
      <p:sp>
        <p:nvSpPr>
          <p:cNvPr id="4" name="Date Placeholder 3">
            <a:extLst>
              <a:ext uri="{FF2B5EF4-FFF2-40B4-BE49-F238E27FC236}">
                <a16:creationId xmlns:a16="http://schemas.microsoft.com/office/drawing/2014/main" id="{2FEB2C05-1D6B-3706-B988-4A1BF00A0F85}"/>
              </a:ext>
            </a:extLst>
          </p:cNvPr>
          <p:cNvSpPr>
            <a:spLocks noGrp="1"/>
          </p:cNvSpPr>
          <p:nvPr>
            <p:ph type="dt" sz="half" idx="10"/>
          </p:nvPr>
        </p:nvSpPr>
        <p:spPr/>
        <p:txBody>
          <a:bodyPr/>
          <a:lstStyle/>
          <a:p>
            <a:fld id="{24935E1B-A0AD-44BF-B5C9-1ABE9B6A576F}" type="datetimeFigureOut">
              <a:rPr lang="en-AE" smtClean="0"/>
              <a:t>22/08/2026</a:t>
            </a:fld>
            <a:endParaRPr lang="en-AE" dirty="0"/>
          </a:p>
        </p:txBody>
      </p:sp>
      <p:sp>
        <p:nvSpPr>
          <p:cNvPr id="5" name="Footer Placeholder 4">
            <a:extLst>
              <a:ext uri="{FF2B5EF4-FFF2-40B4-BE49-F238E27FC236}">
                <a16:creationId xmlns:a16="http://schemas.microsoft.com/office/drawing/2014/main" id="{639C2943-CC56-071E-5C6B-B1AF5CF04E12}"/>
              </a:ext>
            </a:extLst>
          </p:cNvPr>
          <p:cNvSpPr>
            <a:spLocks noGrp="1"/>
          </p:cNvSpPr>
          <p:nvPr>
            <p:ph type="ftr" sz="quarter" idx="11"/>
          </p:nvPr>
        </p:nvSpPr>
        <p:spPr/>
        <p:txBody>
          <a:bodyPr/>
          <a:lstStyle/>
          <a:p>
            <a:endParaRPr lang="en-AE" dirty="0"/>
          </a:p>
        </p:txBody>
      </p:sp>
      <p:sp>
        <p:nvSpPr>
          <p:cNvPr id="6" name="Slide Number Placeholder 5">
            <a:extLst>
              <a:ext uri="{FF2B5EF4-FFF2-40B4-BE49-F238E27FC236}">
                <a16:creationId xmlns:a16="http://schemas.microsoft.com/office/drawing/2014/main" id="{B132DDB5-1C73-6B72-4543-B49D2D4C35F9}"/>
              </a:ext>
            </a:extLst>
          </p:cNvPr>
          <p:cNvSpPr>
            <a:spLocks noGrp="1"/>
          </p:cNvSpPr>
          <p:nvPr>
            <p:ph type="sldNum" sz="quarter" idx="12"/>
          </p:nvPr>
        </p:nvSpPr>
        <p:spPr/>
        <p:txBody>
          <a:bodyPr/>
          <a:lstStyle/>
          <a:p>
            <a:fld id="{6BA78D46-A64D-47F8-AADF-37B763CBACD5}" type="slidenum">
              <a:rPr lang="en-AE" smtClean="0"/>
              <a:t>‹#›</a:t>
            </a:fld>
            <a:endParaRPr lang="en-AE" dirty="0"/>
          </a:p>
        </p:txBody>
      </p:sp>
    </p:spTree>
    <p:extLst>
      <p:ext uri="{BB962C8B-B14F-4D97-AF65-F5344CB8AC3E}">
        <p14:creationId xmlns:p14="http://schemas.microsoft.com/office/powerpoint/2010/main" val="528804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849B0-A65C-CF5E-923E-2DE0340A0417}"/>
              </a:ext>
            </a:extLst>
          </p:cNvPr>
          <p:cNvSpPr>
            <a:spLocks noGrp="1"/>
          </p:cNvSpPr>
          <p:nvPr>
            <p:ph type="title"/>
          </p:nvPr>
        </p:nvSpPr>
        <p:spPr/>
        <p:txBody>
          <a:bodyPr/>
          <a:lstStyle/>
          <a:p>
            <a:r>
              <a:rPr lang="en-GB"/>
              <a:t>Click to edit Master title style</a:t>
            </a:r>
            <a:endParaRPr lang="en-AE"/>
          </a:p>
        </p:txBody>
      </p:sp>
      <p:sp>
        <p:nvSpPr>
          <p:cNvPr id="3" name="Content Placeholder 2">
            <a:extLst>
              <a:ext uri="{FF2B5EF4-FFF2-40B4-BE49-F238E27FC236}">
                <a16:creationId xmlns:a16="http://schemas.microsoft.com/office/drawing/2014/main" id="{BE6255E7-93EA-C8E2-4583-16A80EACA22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4" name="Date Placeholder 3">
            <a:extLst>
              <a:ext uri="{FF2B5EF4-FFF2-40B4-BE49-F238E27FC236}">
                <a16:creationId xmlns:a16="http://schemas.microsoft.com/office/drawing/2014/main" id="{A327A0CA-3CE7-9C6E-4E26-0EDED6223E86}"/>
              </a:ext>
            </a:extLst>
          </p:cNvPr>
          <p:cNvSpPr>
            <a:spLocks noGrp="1"/>
          </p:cNvSpPr>
          <p:nvPr>
            <p:ph type="dt" sz="half" idx="10"/>
          </p:nvPr>
        </p:nvSpPr>
        <p:spPr/>
        <p:txBody>
          <a:bodyPr/>
          <a:lstStyle/>
          <a:p>
            <a:fld id="{24935E1B-A0AD-44BF-B5C9-1ABE9B6A576F}" type="datetimeFigureOut">
              <a:rPr lang="en-AE" smtClean="0"/>
              <a:t>22/08/2026</a:t>
            </a:fld>
            <a:endParaRPr lang="en-AE" dirty="0"/>
          </a:p>
        </p:txBody>
      </p:sp>
      <p:sp>
        <p:nvSpPr>
          <p:cNvPr id="5" name="Footer Placeholder 4">
            <a:extLst>
              <a:ext uri="{FF2B5EF4-FFF2-40B4-BE49-F238E27FC236}">
                <a16:creationId xmlns:a16="http://schemas.microsoft.com/office/drawing/2014/main" id="{3F0AA0B3-C410-E322-93AA-0D5E5D912B32}"/>
              </a:ext>
            </a:extLst>
          </p:cNvPr>
          <p:cNvSpPr>
            <a:spLocks noGrp="1"/>
          </p:cNvSpPr>
          <p:nvPr>
            <p:ph type="ftr" sz="quarter" idx="11"/>
          </p:nvPr>
        </p:nvSpPr>
        <p:spPr/>
        <p:txBody>
          <a:bodyPr/>
          <a:lstStyle/>
          <a:p>
            <a:endParaRPr lang="en-AE" dirty="0"/>
          </a:p>
        </p:txBody>
      </p:sp>
      <p:sp>
        <p:nvSpPr>
          <p:cNvPr id="6" name="Slide Number Placeholder 5">
            <a:extLst>
              <a:ext uri="{FF2B5EF4-FFF2-40B4-BE49-F238E27FC236}">
                <a16:creationId xmlns:a16="http://schemas.microsoft.com/office/drawing/2014/main" id="{663CFE22-911C-2F8C-C4DB-364F296C76A3}"/>
              </a:ext>
            </a:extLst>
          </p:cNvPr>
          <p:cNvSpPr>
            <a:spLocks noGrp="1"/>
          </p:cNvSpPr>
          <p:nvPr>
            <p:ph type="sldNum" sz="quarter" idx="12"/>
          </p:nvPr>
        </p:nvSpPr>
        <p:spPr/>
        <p:txBody>
          <a:bodyPr/>
          <a:lstStyle/>
          <a:p>
            <a:fld id="{6BA78D46-A64D-47F8-AADF-37B763CBACD5}" type="slidenum">
              <a:rPr lang="en-AE" smtClean="0"/>
              <a:t>‹#›</a:t>
            </a:fld>
            <a:endParaRPr lang="en-AE" dirty="0"/>
          </a:p>
        </p:txBody>
      </p:sp>
    </p:spTree>
    <p:extLst>
      <p:ext uri="{BB962C8B-B14F-4D97-AF65-F5344CB8AC3E}">
        <p14:creationId xmlns:p14="http://schemas.microsoft.com/office/powerpoint/2010/main" val="417957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F81AB-D314-2F70-B5C0-9479064C24F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E"/>
          </a:p>
        </p:txBody>
      </p:sp>
      <p:sp>
        <p:nvSpPr>
          <p:cNvPr id="3" name="Text Placeholder 2">
            <a:extLst>
              <a:ext uri="{FF2B5EF4-FFF2-40B4-BE49-F238E27FC236}">
                <a16:creationId xmlns:a16="http://schemas.microsoft.com/office/drawing/2014/main" id="{4E8FC4D1-CC85-431C-30EB-DE903BAF981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696A53D-2566-C7DA-D283-F6E7FC32D91B}"/>
              </a:ext>
            </a:extLst>
          </p:cNvPr>
          <p:cNvSpPr>
            <a:spLocks noGrp="1"/>
          </p:cNvSpPr>
          <p:nvPr>
            <p:ph type="dt" sz="half" idx="10"/>
          </p:nvPr>
        </p:nvSpPr>
        <p:spPr/>
        <p:txBody>
          <a:bodyPr/>
          <a:lstStyle/>
          <a:p>
            <a:fld id="{24935E1B-A0AD-44BF-B5C9-1ABE9B6A576F}" type="datetimeFigureOut">
              <a:rPr lang="en-AE" smtClean="0"/>
              <a:t>22/08/2026</a:t>
            </a:fld>
            <a:endParaRPr lang="en-AE" dirty="0"/>
          </a:p>
        </p:txBody>
      </p:sp>
      <p:sp>
        <p:nvSpPr>
          <p:cNvPr id="5" name="Footer Placeholder 4">
            <a:extLst>
              <a:ext uri="{FF2B5EF4-FFF2-40B4-BE49-F238E27FC236}">
                <a16:creationId xmlns:a16="http://schemas.microsoft.com/office/drawing/2014/main" id="{F4BAC452-9B39-CD81-0FDB-68AA6ADC8D4D}"/>
              </a:ext>
            </a:extLst>
          </p:cNvPr>
          <p:cNvSpPr>
            <a:spLocks noGrp="1"/>
          </p:cNvSpPr>
          <p:nvPr>
            <p:ph type="ftr" sz="quarter" idx="11"/>
          </p:nvPr>
        </p:nvSpPr>
        <p:spPr/>
        <p:txBody>
          <a:bodyPr/>
          <a:lstStyle/>
          <a:p>
            <a:endParaRPr lang="en-AE" dirty="0"/>
          </a:p>
        </p:txBody>
      </p:sp>
      <p:sp>
        <p:nvSpPr>
          <p:cNvPr id="6" name="Slide Number Placeholder 5">
            <a:extLst>
              <a:ext uri="{FF2B5EF4-FFF2-40B4-BE49-F238E27FC236}">
                <a16:creationId xmlns:a16="http://schemas.microsoft.com/office/drawing/2014/main" id="{03A46221-3635-C9D2-EED4-BDCA0594D54B}"/>
              </a:ext>
            </a:extLst>
          </p:cNvPr>
          <p:cNvSpPr>
            <a:spLocks noGrp="1"/>
          </p:cNvSpPr>
          <p:nvPr>
            <p:ph type="sldNum" sz="quarter" idx="12"/>
          </p:nvPr>
        </p:nvSpPr>
        <p:spPr/>
        <p:txBody>
          <a:bodyPr/>
          <a:lstStyle/>
          <a:p>
            <a:fld id="{6BA78D46-A64D-47F8-AADF-37B763CBACD5}" type="slidenum">
              <a:rPr lang="en-AE" smtClean="0"/>
              <a:t>‹#›</a:t>
            </a:fld>
            <a:endParaRPr lang="en-AE" dirty="0"/>
          </a:p>
        </p:txBody>
      </p:sp>
    </p:spTree>
    <p:extLst>
      <p:ext uri="{BB962C8B-B14F-4D97-AF65-F5344CB8AC3E}">
        <p14:creationId xmlns:p14="http://schemas.microsoft.com/office/powerpoint/2010/main" val="3849867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90A9-C1B8-7009-BE85-AB327DDD95DC}"/>
              </a:ext>
            </a:extLst>
          </p:cNvPr>
          <p:cNvSpPr>
            <a:spLocks noGrp="1"/>
          </p:cNvSpPr>
          <p:nvPr>
            <p:ph type="title"/>
          </p:nvPr>
        </p:nvSpPr>
        <p:spPr/>
        <p:txBody>
          <a:bodyPr/>
          <a:lstStyle/>
          <a:p>
            <a:r>
              <a:rPr lang="en-GB"/>
              <a:t>Click to edit Master title style</a:t>
            </a:r>
            <a:endParaRPr lang="en-AE"/>
          </a:p>
        </p:txBody>
      </p:sp>
      <p:sp>
        <p:nvSpPr>
          <p:cNvPr id="3" name="Content Placeholder 2">
            <a:extLst>
              <a:ext uri="{FF2B5EF4-FFF2-40B4-BE49-F238E27FC236}">
                <a16:creationId xmlns:a16="http://schemas.microsoft.com/office/drawing/2014/main" id="{E1F797EF-22B3-CCEE-D815-9CA538A58B2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4" name="Content Placeholder 3">
            <a:extLst>
              <a:ext uri="{FF2B5EF4-FFF2-40B4-BE49-F238E27FC236}">
                <a16:creationId xmlns:a16="http://schemas.microsoft.com/office/drawing/2014/main" id="{D4BC96B8-57C7-544B-E450-03B0A2FF84E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5" name="Date Placeholder 4">
            <a:extLst>
              <a:ext uri="{FF2B5EF4-FFF2-40B4-BE49-F238E27FC236}">
                <a16:creationId xmlns:a16="http://schemas.microsoft.com/office/drawing/2014/main" id="{812588A8-EE75-3BFD-1D59-E0B1F06C316D}"/>
              </a:ext>
            </a:extLst>
          </p:cNvPr>
          <p:cNvSpPr>
            <a:spLocks noGrp="1"/>
          </p:cNvSpPr>
          <p:nvPr>
            <p:ph type="dt" sz="half" idx="10"/>
          </p:nvPr>
        </p:nvSpPr>
        <p:spPr/>
        <p:txBody>
          <a:bodyPr/>
          <a:lstStyle/>
          <a:p>
            <a:fld id="{24935E1B-A0AD-44BF-B5C9-1ABE9B6A576F}" type="datetimeFigureOut">
              <a:rPr lang="en-AE" smtClean="0"/>
              <a:t>22/08/2026</a:t>
            </a:fld>
            <a:endParaRPr lang="en-AE" dirty="0"/>
          </a:p>
        </p:txBody>
      </p:sp>
      <p:sp>
        <p:nvSpPr>
          <p:cNvPr id="6" name="Footer Placeholder 5">
            <a:extLst>
              <a:ext uri="{FF2B5EF4-FFF2-40B4-BE49-F238E27FC236}">
                <a16:creationId xmlns:a16="http://schemas.microsoft.com/office/drawing/2014/main" id="{5B5F9789-DD60-D786-C503-EF270EBF1451}"/>
              </a:ext>
            </a:extLst>
          </p:cNvPr>
          <p:cNvSpPr>
            <a:spLocks noGrp="1"/>
          </p:cNvSpPr>
          <p:nvPr>
            <p:ph type="ftr" sz="quarter" idx="11"/>
          </p:nvPr>
        </p:nvSpPr>
        <p:spPr/>
        <p:txBody>
          <a:bodyPr/>
          <a:lstStyle/>
          <a:p>
            <a:endParaRPr lang="en-AE" dirty="0"/>
          </a:p>
        </p:txBody>
      </p:sp>
      <p:sp>
        <p:nvSpPr>
          <p:cNvPr id="7" name="Slide Number Placeholder 6">
            <a:extLst>
              <a:ext uri="{FF2B5EF4-FFF2-40B4-BE49-F238E27FC236}">
                <a16:creationId xmlns:a16="http://schemas.microsoft.com/office/drawing/2014/main" id="{CF476A8C-597B-F48A-19BA-15C9889F0370}"/>
              </a:ext>
            </a:extLst>
          </p:cNvPr>
          <p:cNvSpPr>
            <a:spLocks noGrp="1"/>
          </p:cNvSpPr>
          <p:nvPr>
            <p:ph type="sldNum" sz="quarter" idx="12"/>
          </p:nvPr>
        </p:nvSpPr>
        <p:spPr/>
        <p:txBody>
          <a:bodyPr/>
          <a:lstStyle/>
          <a:p>
            <a:fld id="{6BA78D46-A64D-47F8-AADF-37B763CBACD5}" type="slidenum">
              <a:rPr lang="en-AE" smtClean="0"/>
              <a:t>‹#›</a:t>
            </a:fld>
            <a:endParaRPr lang="en-AE" dirty="0"/>
          </a:p>
        </p:txBody>
      </p:sp>
    </p:spTree>
    <p:extLst>
      <p:ext uri="{BB962C8B-B14F-4D97-AF65-F5344CB8AC3E}">
        <p14:creationId xmlns:p14="http://schemas.microsoft.com/office/powerpoint/2010/main" val="3847758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4D79-156A-2D8B-267E-1FBE89FEAAB5}"/>
              </a:ext>
            </a:extLst>
          </p:cNvPr>
          <p:cNvSpPr>
            <a:spLocks noGrp="1"/>
          </p:cNvSpPr>
          <p:nvPr>
            <p:ph type="title"/>
          </p:nvPr>
        </p:nvSpPr>
        <p:spPr>
          <a:xfrm>
            <a:off x="839788" y="365125"/>
            <a:ext cx="10515600" cy="1325563"/>
          </a:xfrm>
        </p:spPr>
        <p:txBody>
          <a:bodyPr/>
          <a:lstStyle/>
          <a:p>
            <a:r>
              <a:rPr lang="en-GB"/>
              <a:t>Click to edit Master title style</a:t>
            </a:r>
            <a:endParaRPr lang="en-AE"/>
          </a:p>
        </p:txBody>
      </p:sp>
      <p:sp>
        <p:nvSpPr>
          <p:cNvPr id="3" name="Text Placeholder 2">
            <a:extLst>
              <a:ext uri="{FF2B5EF4-FFF2-40B4-BE49-F238E27FC236}">
                <a16:creationId xmlns:a16="http://schemas.microsoft.com/office/drawing/2014/main" id="{85C84721-59A9-2706-5168-678C0BD184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1D9982F-EADE-40D8-66BF-D98F7A9429C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5" name="Text Placeholder 4">
            <a:extLst>
              <a:ext uri="{FF2B5EF4-FFF2-40B4-BE49-F238E27FC236}">
                <a16:creationId xmlns:a16="http://schemas.microsoft.com/office/drawing/2014/main" id="{CE7EA01A-F5BD-764E-C92A-F3CA0922B4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8B218D5-3585-B231-0B95-5BE3DBCB0D3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7" name="Date Placeholder 6">
            <a:extLst>
              <a:ext uri="{FF2B5EF4-FFF2-40B4-BE49-F238E27FC236}">
                <a16:creationId xmlns:a16="http://schemas.microsoft.com/office/drawing/2014/main" id="{E53BD438-788B-F521-A156-988B1017BCE9}"/>
              </a:ext>
            </a:extLst>
          </p:cNvPr>
          <p:cNvSpPr>
            <a:spLocks noGrp="1"/>
          </p:cNvSpPr>
          <p:nvPr>
            <p:ph type="dt" sz="half" idx="10"/>
          </p:nvPr>
        </p:nvSpPr>
        <p:spPr/>
        <p:txBody>
          <a:bodyPr/>
          <a:lstStyle/>
          <a:p>
            <a:fld id="{24935E1B-A0AD-44BF-B5C9-1ABE9B6A576F}" type="datetimeFigureOut">
              <a:rPr lang="en-AE" smtClean="0"/>
              <a:t>22/08/2026</a:t>
            </a:fld>
            <a:endParaRPr lang="en-AE" dirty="0"/>
          </a:p>
        </p:txBody>
      </p:sp>
      <p:sp>
        <p:nvSpPr>
          <p:cNvPr id="8" name="Footer Placeholder 7">
            <a:extLst>
              <a:ext uri="{FF2B5EF4-FFF2-40B4-BE49-F238E27FC236}">
                <a16:creationId xmlns:a16="http://schemas.microsoft.com/office/drawing/2014/main" id="{419B480F-EB06-6C24-7584-F69196DBDCB4}"/>
              </a:ext>
            </a:extLst>
          </p:cNvPr>
          <p:cNvSpPr>
            <a:spLocks noGrp="1"/>
          </p:cNvSpPr>
          <p:nvPr>
            <p:ph type="ftr" sz="quarter" idx="11"/>
          </p:nvPr>
        </p:nvSpPr>
        <p:spPr/>
        <p:txBody>
          <a:bodyPr/>
          <a:lstStyle/>
          <a:p>
            <a:endParaRPr lang="en-AE" dirty="0"/>
          </a:p>
        </p:txBody>
      </p:sp>
      <p:sp>
        <p:nvSpPr>
          <p:cNvPr id="9" name="Slide Number Placeholder 8">
            <a:extLst>
              <a:ext uri="{FF2B5EF4-FFF2-40B4-BE49-F238E27FC236}">
                <a16:creationId xmlns:a16="http://schemas.microsoft.com/office/drawing/2014/main" id="{E2F1562E-7DB3-AB95-78AB-6B1B083B47DF}"/>
              </a:ext>
            </a:extLst>
          </p:cNvPr>
          <p:cNvSpPr>
            <a:spLocks noGrp="1"/>
          </p:cNvSpPr>
          <p:nvPr>
            <p:ph type="sldNum" sz="quarter" idx="12"/>
          </p:nvPr>
        </p:nvSpPr>
        <p:spPr/>
        <p:txBody>
          <a:bodyPr/>
          <a:lstStyle/>
          <a:p>
            <a:fld id="{6BA78D46-A64D-47F8-AADF-37B763CBACD5}" type="slidenum">
              <a:rPr lang="en-AE" smtClean="0"/>
              <a:t>‹#›</a:t>
            </a:fld>
            <a:endParaRPr lang="en-AE" dirty="0"/>
          </a:p>
        </p:txBody>
      </p:sp>
    </p:spTree>
    <p:extLst>
      <p:ext uri="{BB962C8B-B14F-4D97-AF65-F5344CB8AC3E}">
        <p14:creationId xmlns:p14="http://schemas.microsoft.com/office/powerpoint/2010/main" val="4042054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587ED-5D8E-CC21-343E-6CD3B85EE204}"/>
              </a:ext>
            </a:extLst>
          </p:cNvPr>
          <p:cNvSpPr>
            <a:spLocks noGrp="1"/>
          </p:cNvSpPr>
          <p:nvPr>
            <p:ph type="title"/>
          </p:nvPr>
        </p:nvSpPr>
        <p:spPr/>
        <p:txBody>
          <a:bodyPr/>
          <a:lstStyle/>
          <a:p>
            <a:r>
              <a:rPr lang="en-GB"/>
              <a:t>Click to edit Master title style</a:t>
            </a:r>
            <a:endParaRPr lang="en-AE"/>
          </a:p>
        </p:txBody>
      </p:sp>
      <p:sp>
        <p:nvSpPr>
          <p:cNvPr id="3" name="Date Placeholder 2">
            <a:extLst>
              <a:ext uri="{FF2B5EF4-FFF2-40B4-BE49-F238E27FC236}">
                <a16:creationId xmlns:a16="http://schemas.microsoft.com/office/drawing/2014/main" id="{63D3A4A0-2389-1559-74EF-7EDF52A50F31}"/>
              </a:ext>
            </a:extLst>
          </p:cNvPr>
          <p:cNvSpPr>
            <a:spLocks noGrp="1"/>
          </p:cNvSpPr>
          <p:nvPr>
            <p:ph type="dt" sz="half" idx="10"/>
          </p:nvPr>
        </p:nvSpPr>
        <p:spPr/>
        <p:txBody>
          <a:bodyPr/>
          <a:lstStyle/>
          <a:p>
            <a:fld id="{24935E1B-A0AD-44BF-B5C9-1ABE9B6A576F}" type="datetimeFigureOut">
              <a:rPr lang="en-AE" smtClean="0"/>
              <a:t>22/08/2026</a:t>
            </a:fld>
            <a:endParaRPr lang="en-AE" dirty="0"/>
          </a:p>
        </p:txBody>
      </p:sp>
      <p:sp>
        <p:nvSpPr>
          <p:cNvPr id="4" name="Footer Placeholder 3">
            <a:extLst>
              <a:ext uri="{FF2B5EF4-FFF2-40B4-BE49-F238E27FC236}">
                <a16:creationId xmlns:a16="http://schemas.microsoft.com/office/drawing/2014/main" id="{4DD23E82-7101-2B43-B184-EFAB402B5115}"/>
              </a:ext>
            </a:extLst>
          </p:cNvPr>
          <p:cNvSpPr>
            <a:spLocks noGrp="1"/>
          </p:cNvSpPr>
          <p:nvPr>
            <p:ph type="ftr" sz="quarter" idx="11"/>
          </p:nvPr>
        </p:nvSpPr>
        <p:spPr/>
        <p:txBody>
          <a:bodyPr/>
          <a:lstStyle/>
          <a:p>
            <a:endParaRPr lang="en-AE" dirty="0"/>
          </a:p>
        </p:txBody>
      </p:sp>
      <p:sp>
        <p:nvSpPr>
          <p:cNvPr id="5" name="Slide Number Placeholder 4">
            <a:extLst>
              <a:ext uri="{FF2B5EF4-FFF2-40B4-BE49-F238E27FC236}">
                <a16:creationId xmlns:a16="http://schemas.microsoft.com/office/drawing/2014/main" id="{15B6C04D-DADD-DE31-BE1F-23FB806945E5}"/>
              </a:ext>
            </a:extLst>
          </p:cNvPr>
          <p:cNvSpPr>
            <a:spLocks noGrp="1"/>
          </p:cNvSpPr>
          <p:nvPr>
            <p:ph type="sldNum" sz="quarter" idx="12"/>
          </p:nvPr>
        </p:nvSpPr>
        <p:spPr/>
        <p:txBody>
          <a:bodyPr/>
          <a:lstStyle/>
          <a:p>
            <a:fld id="{6BA78D46-A64D-47F8-AADF-37B763CBACD5}" type="slidenum">
              <a:rPr lang="en-AE" smtClean="0"/>
              <a:t>‹#›</a:t>
            </a:fld>
            <a:endParaRPr lang="en-AE" dirty="0"/>
          </a:p>
        </p:txBody>
      </p:sp>
    </p:spTree>
    <p:extLst>
      <p:ext uri="{BB962C8B-B14F-4D97-AF65-F5344CB8AC3E}">
        <p14:creationId xmlns:p14="http://schemas.microsoft.com/office/powerpoint/2010/main" val="2534345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B1CB0-FA84-BDA8-241E-F90310CFFB23}"/>
              </a:ext>
            </a:extLst>
          </p:cNvPr>
          <p:cNvSpPr>
            <a:spLocks noGrp="1"/>
          </p:cNvSpPr>
          <p:nvPr>
            <p:ph type="dt" sz="half" idx="10"/>
          </p:nvPr>
        </p:nvSpPr>
        <p:spPr/>
        <p:txBody>
          <a:bodyPr/>
          <a:lstStyle/>
          <a:p>
            <a:fld id="{24935E1B-A0AD-44BF-B5C9-1ABE9B6A576F}" type="datetimeFigureOut">
              <a:rPr lang="en-AE" smtClean="0"/>
              <a:t>22/08/2026</a:t>
            </a:fld>
            <a:endParaRPr lang="en-AE" dirty="0"/>
          </a:p>
        </p:txBody>
      </p:sp>
      <p:sp>
        <p:nvSpPr>
          <p:cNvPr id="3" name="Footer Placeholder 2">
            <a:extLst>
              <a:ext uri="{FF2B5EF4-FFF2-40B4-BE49-F238E27FC236}">
                <a16:creationId xmlns:a16="http://schemas.microsoft.com/office/drawing/2014/main" id="{E06CE990-817D-3AC1-982A-0EFC2157FE80}"/>
              </a:ext>
            </a:extLst>
          </p:cNvPr>
          <p:cNvSpPr>
            <a:spLocks noGrp="1"/>
          </p:cNvSpPr>
          <p:nvPr>
            <p:ph type="ftr" sz="quarter" idx="11"/>
          </p:nvPr>
        </p:nvSpPr>
        <p:spPr/>
        <p:txBody>
          <a:bodyPr/>
          <a:lstStyle/>
          <a:p>
            <a:endParaRPr lang="en-AE" dirty="0"/>
          </a:p>
        </p:txBody>
      </p:sp>
      <p:sp>
        <p:nvSpPr>
          <p:cNvPr id="4" name="Slide Number Placeholder 3">
            <a:extLst>
              <a:ext uri="{FF2B5EF4-FFF2-40B4-BE49-F238E27FC236}">
                <a16:creationId xmlns:a16="http://schemas.microsoft.com/office/drawing/2014/main" id="{C067E09D-3D24-F48F-547C-24293A74E847}"/>
              </a:ext>
            </a:extLst>
          </p:cNvPr>
          <p:cNvSpPr>
            <a:spLocks noGrp="1"/>
          </p:cNvSpPr>
          <p:nvPr>
            <p:ph type="sldNum" sz="quarter" idx="12"/>
          </p:nvPr>
        </p:nvSpPr>
        <p:spPr/>
        <p:txBody>
          <a:bodyPr/>
          <a:lstStyle/>
          <a:p>
            <a:fld id="{6BA78D46-A64D-47F8-AADF-37B763CBACD5}" type="slidenum">
              <a:rPr lang="en-AE" smtClean="0"/>
              <a:t>‹#›</a:t>
            </a:fld>
            <a:endParaRPr lang="en-AE" dirty="0"/>
          </a:p>
        </p:txBody>
      </p:sp>
    </p:spTree>
    <p:extLst>
      <p:ext uri="{BB962C8B-B14F-4D97-AF65-F5344CB8AC3E}">
        <p14:creationId xmlns:p14="http://schemas.microsoft.com/office/powerpoint/2010/main" val="2234986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AB08A-A902-16B2-A071-4AE923D7EB6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E"/>
          </a:p>
        </p:txBody>
      </p:sp>
      <p:sp>
        <p:nvSpPr>
          <p:cNvPr id="3" name="Content Placeholder 2">
            <a:extLst>
              <a:ext uri="{FF2B5EF4-FFF2-40B4-BE49-F238E27FC236}">
                <a16:creationId xmlns:a16="http://schemas.microsoft.com/office/drawing/2014/main" id="{8E3923CE-3BD7-E214-4CD8-2C4183E879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4" name="Text Placeholder 3">
            <a:extLst>
              <a:ext uri="{FF2B5EF4-FFF2-40B4-BE49-F238E27FC236}">
                <a16:creationId xmlns:a16="http://schemas.microsoft.com/office/drawing/2014/main" id="{28C13524-6DEF-C79A-D9DE-A4714E197A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6C52DFA-3C32-40CA-83CD-A63B2CBB557D}"/>
              </a:ext>
            </a:extLst>
          </p:cNvPr>
          <p:cNvSpPr>
            <a:spLocks noGrp="1"/>
          </p:cNvSpPr>
          <p:nvPr>
            <p:ph type="dt" sz="half" idx="10"/>
          </p:nvPr>
        </p:nvSpPr>
        <p:spPr/>
        <p:txBody>
          <a:bodyPr/>
          <a:lstStyle/>
          <a:p>
            <a:fld id="{24935E1B-A0AD-44BF-B5C9-1ABE9B6A576F}" type="datetimeFigureOut">
              <a:rPr lang="en-AE" smtClean="0"/>
              <a:t>22/08/2026</a:t>
            </a:fld>
            <a:endParaRPr lang="en-AE" dirty="0"/>
          </a:p>
        </p:txBody>
      </p:sp>
      <p:sp>
        <p:nvSpPr>
          <p:cNvPr id="6" name="Footer Placeholder 5">
            <a:extLst>
              <a:ext uri="{FF2B5EF4-FFF2-40B4-BE49-F238E27FC236}">
                <a16:creationId xmlns:a16="http://schemas.microsoft.com/office/drawing/2014/main" id="{5263FA03-FA6F-2EBC-ED68-59280BF123BB}"/>
              </a:ext>
            </a:extLst>
          </p:cNvPr>
          <p:cNvSpPr>
            <a:spLocks noGrp="1"/>
          </p:cNvSpPr>
          <p:nvPr>
            <p:ph type="ftr" sz="quarter" idx="11"/>
          </p:nvPr>
        </p:nvSpPr>
        <p:spPr/>
        <p:txBody>
          <a:bodyPr/>
          <a:lstStyle/>
          <a:p>
            <a:endParaRPr lang="en-AE" dirty="0"/>
          </a:p>
        </p:txBody>
      </p:sp>
      <p:sp>
        <p:nvSpPr>
          <p:cNvPr id="7" name="Slide Number Placeholder 6">
            <a:extLst>
              <a:ext uri="{FF2B5EF4-FFF2-40B4-BE49-F238E27FC236}">
                <a16:creationId xmlns:a16="http://schemas.microsoft.com/office/drawing/2014/main" id="{2533962A-C1A7-0FCA-1084-0F7286B63159}"/>
              </a:ext>
            </a:extLst>
          </p:cNvPr>
          <p:cNvSpPr>
            <a:spLocks noGrp="1"/>
          </p:cNvSpPr>
          <p:nvPr>
            <p:ph type="sldNum" sz="quarter" idx="12"/>
          </p:nvPr>
        </p:nvSpPr>
        <p:spPr/>
        <p:txBody>
          <a:bodyPr/>
          <a:lstStyle/>
          <a:p>
            <a:fld id="{6BA78D46-A64D-47F8-AADF-37B763CBACD5}" type="slidenum">
              <a:rPr lang="en-AE" smtClean="0"/>
              <a:t>‹#›</a:t>
            </a:fld>
            <a:endParaRPr lang="en-AE" dirty="0"/>
          </a:p>
        </p:txBody>
      </p:sp>
    </p:spTree>
    <p:extLst>
      <p:ext uri="{BB962C8B-B14F-4D97-AF65-F5344CB8AC3E}">
        <p14:creationId xmlns:p14="http://schemas.microsoft.com/office/powerpoint/2010/main" val="3812764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86179-5F5D-6CFA-0F44-8DD45758702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E"/>
          </a:p>
        </p:txBody>
      </p:sp>
      <p:sp>
        <p:nvSpPr>
          <p:cNvPr id="3" name="Picture Placeholder 2">
            <a:extLst>
              <a:ext uri="{FF2B5EF4-FFF2-40B4-BE49-F238E27FC236}">
                <a16:creationId xmlns:a16="http://schemas.microsoft.com/office/drawing/2014/main" id="{D236A877-6DAD-2B1C-551B-0E3ED2E0EB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dirty="0"/>
          </a:p>
        </p:txBody>
      </p:sp>
      <p:sp>
        <p:nvSpPr>
          <p:cNvPr id="4" name="Text Placeholder 3">
            <a:extLst>
              <a:ext uri="{FF2B5EF4-FFF2-40B4-BE49-F238E27FC236}">
                <a16:creationId xmlns:a16="http://schemas.microsoft.com/office/drawing/2014/main" id="{14770ADA-E607-295D-6094-B5BAD0BD4C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2C2C072-BA6B-D93D-F671-1CF2848382AC}"/>
              </a:ext>
            </a:extLst>
          </p:cNvPr>
          <p:cNvSpPr>
            <a:spLocks noGrp="1"/>
          </p:cNvSpPr>
          <p:nvPr>
            <p:ph type="dt" sz="half" idx="10"/>
          </p:nvPr>
        </p:nvSpPr>
        <p:spPr/>
        <p:txBody>
          <a:bodyPr/>
          <a:lstStyle/>
          <a:p>
            <a:fld id="{24935E1B-A0AD-44BF-B5C9-1ABE9B6A576F}" type="datetimeFigureOut">
              <a:rPr lang="en-AE" smtClean="0"/>
              <a:t>22/08/2026</a:t>
            </a:fld>
            <a:endParaRPr lang="en-AE" dirty="0"/>
          </a:p>
        </p:txBody>
      </p:sp>
      <p:sp>
        <p:nvSpPr>
          <p:cNvPr id="6" name="Footer Placeholder 5">
            <a:extLst>
              <a:ext uri="{FF2B5EF4-FFF2-40B4-BE49-F238E27FC236}">
                <a16:creationId xmlns:a16="http://schemas.microsoft.com/office/drawing/2014/main" id="{5288FB13-70CD-8822-6B72-D4D93BCF0F76}"/>
              </a:ext>
            </a:extLst>
          </p:cNvPr>
          <p:cNvSpPr>
            <a:spLocks noGrp="1"/>
          </p:cNvSpPr>
          <p:nvPr>
            <p:ph type="ftr" sz="quarter" idx="11"/>
          </p:nvPr>
        </p:nvSpPr>
        <p:spPr/>
        <p:txBody>
          <a:bodyPr/>
          <a:lstStyle/>
          <a:p>
            <a:endParaRPr lang="en-AE" dirty="0"/>
          </a:p>
        </p:txBody>
      </p:sp>
      <p:sp>
        <p:nvSpPr>
          <p:cNvPr id="7" name="Slide Number Placeholder 6">
            <a:extLst>
              <a:ext uri="{FF2B5EF4-FFF2-40B4-BE49-F238E27FC236}">
                <a16:creationId xmlns:a16="http://schemas.microsoft.com/office/drawing/2014/main" id="{955D3812-0BF9-CE7E-C247-6A414E87D491}"/>
              </a:ext>
            </a:extLst>
          </p:cNvPr>
          <p:cNvSpPr>
            <a:spLocks noGrp="1"/>
          </p:cNvSpPr>
          <p:nvPr>
            <p:ph type="sldNum" sz="quarter" idx="12"/>
          </p:nvPr>
        </p:nvSpPr>
        <p:spPr/>
        <p:txBody>
          <a:bodyPr/>
          <a:lstStyle/>
          <a:p>
            <a:fld id="{6BA78D46-A64D-47F8-AADF-37B763CBACD5}" type="slidenum">
              <a:rPr lang="en-AE" smtClean="0"/>
              <a:t>‹#›</a:t>
            </a:fld>
            <a:endParaRPr lang="en-AE" dirty="0"/>
          </a:p>
        </p:txBody>
      </p:sp>
    </p:spTree>
    <p:extLst>
      <p:ext uri="{BB962C8B-B14F-4D97-AF65-F5344CB8AC3E}">
        <p14:creationId xmlns:p14="http://schemas.microsoft.com/office/powerpoint/2010/main" val="2703111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4DA7F-EC21-BC81-9B0B-2FA01BEB4221}"/>
              </a:ext>
            </a:extLst>
          </p:cNvPr>
          <p:cNvSpPr>
            <a:spLocks noGrp="1"/>
          </p:cNvSpPr>
          <p:nvPr>
            <p:ph type="title"/>
          </p:nvPr>
        </p:nvSpPr>
        <p:spPr/>
        <p:txBody>
          <a:bodyPr/>
          <a:lstStyle/>
          <a:p>
            <a:r>
              <a:rPr lang="en-GB"/>
              <a:t>Click to edit Master title style</a:t>
            </a:r>
            <a:endParaRPr lang="en-AE"/>
          </a:p>
        </p:txBody>
      </p:sp>
      <p:sp>
        <p:nvSpPr>
          <p:cNvPr id="3" name="Vertical Text Placeholder 2">
            <a:extLst>
              <a:ext uri="{FF2B5EF4-FFF2-40B4-BE49-F238E27FC236}">
                <a16:creationId xmlns:a16="http://schemas.microsoft.com/office/drawing/2014/main" id="{EA7B9131-931C-FF3D-26C5-EC656210649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4" name="Date Placeholder 3">
            <a:extLst>
              <a:ext uri="{FF2B5EF4-FFF2-40B4-BE49-F238E27FC236}">
                <a16:creationId xmlns:a16="http://schemas.microsoft.com/office/drawing/2014/main" id="{CB1CBA06-557E-4BDF-4677-0AC782D19890}"/>
              </a:ext>
            </a:extLst>
          </p:cNvPr>
          <p:cNvSpPr>
            <a:spLocks noGrp="1"/>
          </p:cNvSpPr>
          <p:nvPr>
            <p:ph type="dt" sz="half" idx="10"/>
          </p:nvPr>
        </p:nvSpPr>
        <p:spPr/>
        <p:txBody>
          <a:bodyPr/>
          <a:lstStyle/>
          <a:p>
            <a:fld id="{24935E1B-A0AD-44BF-B5C9-1ABE9B6A576F}" type="datetimeFigureOut">
              <a:rPr lang="en-AE" smtClean="0"/>
              <a:t>22/08/2026</a:t>
            </a:fld>
            <a:endParaRPr lang="en-AE" dirty="0"/>
          </a:p>
        </p:txBody>
      </p:sp>
      <p:sp>
        <p:nvSpPr>
          <p:cNvPr id="5" name="Footer Placeholder 4">
            <a:extLst>
              <a:ext uri="{FF2B5EF4-FFF2-40B4-BE49-F238E27FC236}">
                <a16:creationId xmlns:a16="http://schemas.microsoft.com/office/drawing/2014/main" id="{5A21FD96-0DC5-8405-9438-F840D1BBABCF}"/>
              </a:ext>
            </a:extLst>
          </p:cNvPr>
          <p:cNvSpPr>
            <a:spLocks noGrp="1"/>
          </p:cNvSpPr>
          <p:nvPr>
            <p:ph type="ftr" sz="quarter" idx="11"/>
          </p:nvPr>
        </p:nvSpPr>
        <p:spPr/>
        <p:txBody>
          <a:bodyPr/>
          <a:lstStyle/>
          <a:p>
            <a:endParaRPr lang="en-AE" dirty="0"/>
          </a:p>
        </p:txBody>
      </p:sp>
      <p:sp>
        <p:nvSpPr>
          <p:cNvPr id="6" name="Slide Number Placeholder 5">
            <a:extLst>
              <a:ext uri="{FF2B5EF4-FFF2-40B4-BE49-F238E27FC236}">
                <a16:creationId xmlns:a16="http://schemas.microsoft.com/office/drawing/2014/main" id="{BB37180D-8A8E-A42B-7207-1FBDCD796527}"/>
              </a:ext>
            </a:extLst>
          </p:cNvPr>
          <p:cNvSpPr>
            <a:spLocks noGrp="1"/>
          </p:cNvSpPr>
          <p:nvPr>
            <p:ph type="sldNum" sz="quarter" idx="12"/>
          </p:nvPr>
        </p:nvSpPr>
        <p:spPr/>
        <p:txBody>
          <a:bodyPr/>
          <a:lstStyle/>
          <a:p>
            <a:fld id="{6BA78D46-A64D-47F8-AADF-37B763CBACD5}" type="slidenum">
              <a:rPr lang="en-AE" smtClean="0"/>
              <a:t>‹#›</a:t>
            </a:fld>
            <a:endParaRPr lang="en-AE" dirty="0"/>
          </a:p>
        </p:txBody>
      </p:sp>
    </p:spTree>
    <p:extLst>
      <p:ext uri="{BB962C8B-B14F-4D97-AF65-F5344CB8AC3E}">
        <p14:creationId xmlns:p14="http://schemas.microsoft.com/office/powerpoint/2010/main" val="3332784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889C46-6B52-574C-CEC9-7D180B958B8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E"/>
          </a:p>
        </p:txBody>
      </p:sp>
      <p:sp>
        <p:nvSpPr>
          <p:cNvPr id="3" name="Vertical Text Placeholder 2">
            <a:extLst>
              <a:ext uri="{FF2B5EF4-FFF2-40B4-BE49-F238E27FC236}">
                <a16:creationId xmlns:a16="http://schemas.microsoft.com/office/drawing/2014/main" id="{72D3125B-DB61-14EC-12B7-FFFEC464F01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4" name="Date Placeholder 3">
            <a:extLst>
              <a:ext uri="{FF2B5EF4-FFF2-40B4-BE49-F238E27FC236}">
                <a16:creationId xmlns:a16="http://schemas.microsoft.com/office/drawing/2014/main" id="{078F5EDA-5D05-5590-250C-56220FEE5766}"/>
              </a:ext>
            </a:extLst>
          </p:cNvPr>
          <p:cNvSpPr>
            <a:spLocks noGrp="1"/>
          </p:cNvSpPr>
          <p:nvPr>
            <p:ph type="dt" sz="half" idx="10"/>
          </p:nvPr>
        </p:nvSpPr>
        <p:spPr/>
        <p:txBody>
          <a:bodyPr/>
          <a:lstStyle/>
          <a:p>
            <a:fld id="{24935E1B-A0AD-44BF-B5C9-1ABE9B6A576F}" type="datetimeFigureOut">
              <a:rPr lang="en-AE" smtClean="0"/>
              <a:t>22/08/2026</a:t>
            </a:fld>
            <a:endParaRPr lang="en-AE" dirty="0"/>
          </a:p>
        </p:txBody>
      </p:sp>
      <p:sp>
        <p:nvSpPr>
          <p:cNvPr id="5" name="Footer Placeholder 4">
            <a:extLst>
              <a:ext uri="{FF2B5EF4-FFF2-40B4-BE49-F238E27FC236}">
                <a16:creationId xmlns:a16="http://schemas.microsoft.com/office/drawing/2014/main" id="{9FE0666C-F66C-5D38-6C24-66EE8CE1AE66}"/>
              </a:ext>
            </a:extLst>
          </p:cNvPr>
          <p:cNvSpPr>
            <a:spLocks noGrp="1"/>
          </p:cNvSpPr>
          <p:nvPr>
            <p:ph type="ftr" sz="quarter" idx="11"/>
          </p:nvPr>
        </p:nvSpPr>
        <p:spPr/>
        <p:txBody>
          <a:bodyPr/>
          <a:lstStyle/>
          <a:p>
            <a:endParaRPr lang="en-AE" dirty="0"/>
          </a:p>
        </p:txBody>
      </p:sp>
      <p:sp>
        <p:nvSpPr>
          <p:cNvPr id="6" name="Slide Number Placeholder 5">
            <a:extLst>
              <a:ext uri="{FF2B5EF4-FFF2-40B4-BE49-F238E27FC236}">
                <a16:creationId xmlns:a16="http://schemas.microsoft.com/office/drawing/2014/main" id="{52F164C4-7F1B-FE9C-8CA3-E64949D37808}"/>
              </a:ext>
            </a:extLst>
          </p:cNvPr>
          <p:cNvSpPr>
            <a:spLocks noGrp="1"/>
          </p:cNvSpPr>
          <p:nvPr>
            <p:ph type="sldNum" sz="quarter" idx="12"/>
          </p:nvPr>
        </p:nvSpPr>
        <p:spPr/>
        <p:txBody>
          <a:bodyPr/>
          <a:lstStyle/>
          <a:p>
            <a:fld id="{6BA78D46-A64D-47F8-AADF-37B763CBACD5}" type="slidenum">
              <a:rPr lang="en-AE" smtClean="0"/>
              <a:t>‹#›</a:t>
            </a:fld>
            <a:endParaRPr lang="en-AE" dirty="0"/>
          </a:p>
        </p:txBody>
      </p:sp>
    </p:spTree>
    <p:extLst>
      <p:ext uri="{BB962C8B-B14F-4D97-AF65-F5344CB8AC3E}">
        <p14:creationId xmlns:p14="http://schemas.microsoft.com/office/powerpoint/2010/main" val="611883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7D017D-4FEC-365B-2A53-30DD592C64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E"/>
          </a:p>
        </p:txBody>
      </p:sp>
      <p:sp>
        <p:nvSpPr>
          <p:cNvPr id="3" name="Text Placeholder 2">
            <a:extLst>
              <a:ext uri="{FF2B5EF4-FFF2-40B4-BE49-F238E27FC236}">
                <a16:creationId xmlns:a16="http://schemas.microsoft.com/office/drawing/2014/main" id="{6D7FAB82-EB97-660B-FBE3-5418D6DBBB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4" name="Date Placeholder 3">
            <a:extLst>
              <a:ext uri="{FF2B5EF4-FFF2-40B4-BE49-F238E27FC236}">
                <a16:creationId xmlns:a16="http://schemas.microsoft.com/office/drawing/2014/main" id="{AFB11EE1-41FF-3C3C-5B05-8D8A446FF6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935E1B-A0AD-44BF-B5C9-1ABE9B6A576F}" type="datetimeFigureOut">
              <a:rPr lang="en-AE" smtClean="0"/>
              <a:t>22/08/2026</a:t>
            </a:fld>
            <a:endParaRPr lang="en-AE" dirty="0"/>
          </a:p>
        </p:txBody>
      </p:sp>
      <p:sp>
        <p:nvSpPr>
          <p:cNvPr id="5" name="Footer Placeholder 4">
            <a:extLst>
              <a:ext uri="{FF2B5EF4-FFF2-40B4-BE49-F238E27FC236}">
                <a16:creationId xmlns:a16="http://schemas.microsoft.com/office/drawing/2014/main" id="{9265254A-D419-7EB8-531C-BB3CCF24EB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E" dirty="0"/>
          </a:p>
        </p:txBody>
      </p:sp>
      <p:sp>
        <p:nvSpPr>
          <p:cNvPr id="6" name="Slide Number Placeholder 5">
            <a:extLst>
              <a:ext uri="{FF2B5EF4-FFF2-40B4-BE49-F238E27FC236}">
                <a16:creationId xmlns:a16="http://schemas.microsoft.com/office/drawing/2014/main" id="{EF2612A9-5FB4-312D-9F29-FF6EB5027C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A78D46-A64D-47F8-AADF-37B763CBACD5}" type="slidenum">
              <a:rPr lang="en-AE" smtClean="0"/>
              <a:t>‹#›</a:t>
            </a:fld>
            <a:endParaRPr lang="en-AE" dirty="0"/>
          </a:p>
        </p:txBody>
      </p:sp>
    </p:spTree>
    <p:extLst>
      <p:ext uri="{BB962C8B-B14F-4D97-AF65-F5344CB8AC3E}">
        <p14:creationId xmlns:p14="http://schemas.microsoft.com/office/powerpoint/2010/main" val="1785869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0_AC6DEA79.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1_66AFD6.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02_82125DB.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03_D71501BA.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05_CD9DC6E.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microsoft.com/office/2018/10/relationships/comments" Target="../comments/modernComment_107_128896DA.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microsoft.com/office/2018/10/relationships/comments" Target="../comments/modernComment_108_89E1D296.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microsoft.com/office/2018/10/relationships/comments" Target="../comments/modernComment_109_5BE9B630.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microsoft.com/office/2018/10/relationships/comments" Target="../comments/modernComment_10A_C90CC3F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microsoft.com/office/2018/10/relationships/comments" Target="../comments/modernComment_10B_5203CD82.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microsoft.com/office/2018/10/relationships/comments" Target="../comments/modernComment_10C_4E009DE4.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microsoft.com/office/2018/10/relationships/comments" Target="../comments/modernComment_10D_BEAF2AED.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microsoft.com/office/2018/10/relationships/comments" Target="../comments/modernComment_10F_C29889C.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microsoft.com/office/2018/10/relationships/comments" Target="../comments/modernComment_110_A524503B.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microsoft.com/office/2018/10/relationships/comments" Target="../comments/modernComment_111_565B6C5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microsoft.com/office/2018/10/relationships/comments" Target="../comments/modernComment_10E_379CDB71.xm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microsoft.com/office/2018/10/relationships/comments" Target="../comments/modernComment_112_E5CAA07D.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microsoft.com/office/2018/10/relationships/comments" Target="../comments/modernComment_113_DC4A182F.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2F8ED1-880F-4FCB-F375-6665314A87EE}"/>
              </a:ext>
            </a:extLst>
          </p:cNvPr>
          <p:cNvPicPr>
            <a:picLocks noChangeAspect="1"/>
          </p:cNvPicPr>
          <p:nvPr/>
        </p:nvPicPr>
        <p:blipFill>
          <a:blip r:embed="rId3"/>
          <a:stretch>
            <a:fillRect/>
          </a:stretch>
        </p:blipFill>
        <p:spPr>
          <a:xfrm>
            <a:off x="293915" y="306032"/>
            <a:ext cx="9105900" cy="5100842"/>
          </a:xfrm>
          <a:prstGeom prst="rect">
            <a:avLst/>
          </a:prstGeom>
        </p:spPr>
      </p:pic>
    </p:spTree>
    <p:extLst>
      <p:ext uri="{BB962C8B-B14F-4D97-AF65-F5344CB8AC3E}">
        <p14:creationId xmlns:p14="http://schemas.microsoft.com/office/powerpoint/2010/main" val="2892884601"/>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 webpage with a green background, featuring a navigation bar with links to various services such as Gmail, YouTube, Maps, and PivotPrime, and a footer with contact information and a message about the company's impact.&#10;&#10;AI-generated content may be incorrect.">
            <a:extLst>
              <a:ext uri="{FF2B5EF4-FFF2-40B4-BE49-F238E27FC236}">
                <a16:creationId xmlns:a16="http://schemas.microsoft.com/office/drawing/2014/main" id="{87980C8B-3BDB-4D82-F52C-C9D480A296A6}"/>
              </a:ext>
            </a:extLst>
          </p:cNvPr>
          <p:cNvPicPr>
            <a:picLocks noChangeAspect="1"/>
          </p:cNvPicPr>
          <p:nvPr/>
        </p:nvPicPr>
        <p:blipFill>
          <a:blip r:embed="rId3"/>
          <a:stretch>
            <a:fillRect/>
          </a:stretch>
        </p:blipFill>
        <p:spPr>
          <a:xfrm>
            <a:off x="598714" y="593466"/>
            <a:ext cx="8797189" cy="5671067"/>
          </a:xfrm>
          <a:prstGeom prst="rect">
            <a:avLst/>
          </a:prstGeom>
        </p:spPr>
      </p:pic>
    </p:spTree>
    <p:extLst>
      <p:ext uri="{BB962C8B-B14F-4D97-AF65-F5344CB8AC3E}">
        <p14:creationId xmlns:p14="http://schemas.microsoft.com/office/powerpoint/2010/main" val="6729686"/>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 performance overview dashboard showing a 27% increase in profit, with key metrics highlighted for execution, waste reduction, retention, transaction speed, and a redesigned pricing, margin, and commercial model.&#10;&#10;AI-generated content may be incorrect.">
            <a:extLst>
              <a:ext uri="{FF2B5EF4-FFF2-40B4-BE49-F238E27FC236}">
                <a16:creationId xmlns:a16="http://schemas.microsoft.com/office/drawing/2014/main" id="{37E4F60B-143F-1211-8973-71CC6760FB0A}"/>
              </a:ext>
            </a:extLst>
          </p:cNvPr>
          <p:cNvPicPr>
            <a:picLocks noChangeAspect="1"/>
          </p:cNvPicPr>
          <p:nvPr/>
        </p:nvPicPr>
        <p:blipFill>
          <a:blip r:embed="rId3"/>
          <a:stretch>
            <a:fillRect/>
          </a:stretch>
        </p:blipFill>
        <p:spPr>
          <a:xfrm>
            <a:off x="515312" y="640595"/>
            <a:ext cx="6460530" cy="3228020"/>
          </a:xfrm>
          <a:prstGeom prst="rect">
            <a:avLst/>
          </a:prstGeom>
        </p:spPr>
      </p:pic>
      <p:pic>
        <p:nvPicPr>
          <p:cNvPr id="5" name="Picture 4" descr="The image displays a collection of six distinct color swatches: black, dark green, light green, white, light yellow, and dark orange.&#10;&#10;AI-generated content may be incorrect.">
            <a:extLst>
              <a:ext uri="{FF2B5EF4-FFF2-40B4-BE49-F238E27FC236}">
                <a16:creationId xmlns:a16="http://schemas.microsoft.com/office/drawing/2014/main" id="{53E54E5B-DF07-A93F-3235-D98267392E2F}"/>
              </a:ext>
            </a:extLst>
          </p:cNvPr>
          <p:cNvPicPr>
            <a:picLocks noChangeAspect="1"/>
          </p:cNvPicPr>
          <p:nvPr/>
        </p:nvPicPr>
        <p:blipFill>
          <a:blip r:embed="rId4"/>
          <a:stretch>
            <a:fillRect/>
          </a:stretch>
        </p:blipFill>
        <p:spPr>
          <a:xfrm>
            <a:off x="6522886" y="770656"/>
            <a:ext cx="4934163" cy="2222343"/>
          </a:xfrm>
          <a:prstGeom prst="rect">
            <a:avLst/>
          </a:prstGeom>
        </p:spPr>
      </p:pic>
      <p:pic>
        <p:nvPicPr>
          <p:cNvPr id="7" name="Picture 6" descr="The diagram illustrates a before-and-after comparison of various business metrics, showing improvements in process efficiency, customer retention, transaction speed, and profit margin following process redesign and optimization.&#10;&#10;AI-generated content may be incorrect.">
            <a:extLst>
              <a:ext uri="{FF2B5EF4-FFF2-40B4-BE49-F238E27FC236}">
                <a16:creationId xmlns:a16="http://schemas.microsoft.com/office/drawing/2014/main" id="{673A20EF-FAF7-F9F9-7240-B5E9415E9C69}"/>
              </a:ext>
            </a:extLst>
          </p:cNvPr>
          <p:cNvPicPr>
            <a:picLocks noChangeAspect="1"/>
          </p:cNvPicPr>
          <p:nvPr/>
        </p:nvPicPr>
        <p:blipFill>
          <a:blip r:embed="rId5"/>
          <a:stretch>
            <a:fillRect/>
          </a:stretch>
        </p:blipFill>
        <p:spPr>
          <a:xfrm>
            <a:off x="5776054" y="3123060"/>
            <a:ext cx="5900634" cy="3338578"/>
          </a:xfrm>
          <a:prstGeom prst="rect">
            <a:avLst/>
          </a:prstGeom>
        </p:spPr>
      </p:pic>
    </p:spTree>
    <p:extLst>
      <p:ext uri="{BB962C8B-B14F-4D97-AF65-F5344CB8AC3E}">
        <p14:creationId xmlns:p14="http://schemas.microsoft.com/office/powerpoint/2010/main" val="136390107"/>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 webpage for PivotPrime, a company offering services such as Operational Clarity Audit, fractional CFO, COO, and CTO roles, as well as tech solutions for websites, CRMs, and workflow automation.&#10;&#10;AI-generated content may be incorrect.">
            <a:extLst>
              <a:ext uri="{FF2B5EF4-FFF2-40B4-BE49-F238E27FC236}">
                <a16:creationId xmlns:a16="http://schemas.microsoft.com/office/drawing/2014/main" id="{8B3F2426-107E-A85D-87F7-F0E18B6AFD64}"/>
              </a:ext>
            </a:extLst>
          </p:cNvPr>
          <p:cNvPicPr>
            <a:picLocks noChangeAspect="1"/>
          </p:cNvPicPr>
          <p:nvPr/>
        </p:nvPicPr>
        <p:blipFill>
          <a:blip r:embed="rId3"/>
          <a:stretch>
            <a:fillRect/>
          </a:stretch>
        </p:blipFill>
        <p:spPr>
          <a:xfrm>
            <a:off x="285572" y="419895"/>
            <a:ext cx="6749685" cy="3701744"/>
          </a:xfrm>
          <a:prstGeom prst="rect">
            <a:avLst/>
          </a:prstGeom>
        </p:spPr>
      </p:pic>
      <p:pic>
        <p:nvPicPr>
          <p:cNvPr id="7" name="Picture 6" descr="The image displays a service offering, which includes a fractional CFO, COO, and Chief of Staff, focusing on operational clarity and process execution within a business. It mentions a pricing structure based on the size of the business, the roles involved, and the scope of the engagement. It also includes various services such as website development, CRMs, workflow automation, and dashboard creation, with a focus on cost efficiency and customization based on the engagement's needs.&#10;&#10;AI-generated content may be incorrect.">
            <a:extLst>
              <a:ext uri="{FF2B5EF4-FFF2-40B4-BE49-F238E27FC236}">
                <a16:creationId xmlns:a16="http://schemas.microsoft.com/office/drawing/2014/main" id="{C5CE54FA-423A-F5C1-69F5-A7C6E42BA8A9}"/>
              </a:ext>
            </a:extLst>
          </p:cNvPr>
          <p:cNvPicPr>
            <a:picLocks noChangeAspect="1"/>
          </p:cNvPicPr>
          <p:nvPr/>
        </p:nvPicPr>
        <p:blipFill>
          <a:blip r:embed="rId4"/>
          <a:stretch>
            <a:fillRect/>
          </a:stretch>
        </p:blipFill>
        <p:spPr>
          <a:xfrm>
            <a:off x="5897880" y="3253365"/>
            <a:ext cx="5865922" cy="3398100"/>
          </a:xfrm>
          <a:prstGeom prst="rect">
            <a:avLst/>
          </a:prstGeom>
        </p:spPr>
      </p:pic>
    </p:spTree>
    <p:extLst>
      <p:ext uri="{BB962C8B-B14F-4D97-AF65-F5344CB8AC3E}">
        <p14:creationId xmlns:p14="http://schemas.microsoft.com/office/powerpoint/2010/main" val="3608478138"/>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llustrates a checklist of common business challenges, such as sales decline, quality issues, stagnant pricing, poor execution, team burnout, and customer loss, leading to a discussion on structuring solutions.&#10;&#10;AI-generated content may be incorrect.">
            <a:extLst>
              <a:ext uri="{FF2B5EF4-FFF2-40B4-BE49-F238E27FC236}">
                <a16:creationId xmlns:a16="http://schemas.microsoft.com/office/drawing/2014/main" id="{43B1DEDC-064B-13E7-8091-205C7624DD70}"/>
              </a:ext>
            </a:extLst>
          </p:cNvPr>
          <p:cNvPicPr>
            <a:picLocks noChangeAspect="1"/>
          </p:cNvPicPr>
          <p:nvPr/>
        </p:nvPicPr>
        <p:blipFill>
          <a:blip r:embed="rId2"/>
          <a:stretch>
            <a:fillRect/>
          </a:stretch>
        </p:blipFill>
        <p:spPr>
          <a:xfrm>
            <a:off x="540397" y="593318"/>
            <a:ext cx="7435566" cy="3838218"/>
          </a:xfrm>
          <a:prstGeom prst="rect">
            <a:avLst/>
          </a:prstGeom>
        </p:spPr>
      </p:pic>
      <p:pic>
        <p:nvPicPr>
          <p:cNvPr id="5" name="Picture 4" descr="The image is a checklist of common business issues, including growth stalls, operational problems, pricing issues, team misalignment, and customer loss.&#10;&#10;AI-generated content may be incorrect.">
            <a:extLst>
              <a:ext uri="{FF2B5EF4-FFF2-40B4-BE49-F238E27FC236}">
                <a16:creationId xmlns:a16="http://schemas.microsoft.com/office/drawing/2014/main" id="{5FE8605C-9E36-DA01-7D5E-07AAC8938225}"/>
              </a:ext>
            </a:extLst>
          </p:cNvPr>
          <p:cNvPicPr>
            <a:picLocks noChangeAspect="1"/>
          </p:cNvPicPr>
          <p:nvPr/>
        </p:nvPicPr>
        <p:blipFill>
          <a:blip r:embed="rId3"/>
          <a:stretch>
            <a:fillRect/>
          </a:stretch>
        </p:blipFill>
        <p:spPr>
          <a:xfrm>
            <a:off x="6358445" y="3139440"/>
            <a:ext cx="5643171" cy="3345686"/>
          </a:xfrm>
          <a:prstGeom prst="rect">
            <a:avLst/>
          </a:prstGeom>
        </p:spPr>
      </p:pic>
    </p:spTree>
    <p:extLst>
      <p:ext uri="{BB962C8B-B14F-4D97-AF65-F5344CB8AC3E}">
        <p14:creationId xmlns:p14="http://schemas.microsoft.com/office/powerpoint/2010/main" val="1564266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escribes a service offering, focusing on diagnosing and resolving issues within a company, streamlining workflow, and providing a temporary solution with a consultant.&#10;&#10;AI-generated content may be incorrect.">
            <a:extLst>
              <a:ext uri="{FF2B5EF4-FFF2-40B4-BE49-F238E27FC236}">
                <a16:creationId xmlns:a16="http://schemas.microsoft.com/office/drawing/2014/main" id="{93A3F1FA-1D6F-F00C-92AA-AEBDDDB56098}"/>
              </a:ext>
            </a:extLst>
          </p:cNvPr>
          <p:cNvPicPr>
            <a:picLocks noChangeAspect="1"/>
          </p:cNvPicPr>
          <p:nvPr/>
        </p:nvPicPr>
        <p:blipFill>
          <a:blip r:embed="rId3"/>
          <a:stretch>
            <a:fillRect/>
          </a:stretch>
        </p:blipFill>
        <p:spPr>
          <a:xfrm>
            <a:off x="624840" y="650434"/>
            <a:ext cx="9616440" cy="5383563"/>
          </a:xfrm>
          <a:prstGeom prst="rect">
            <a:avLst/>
          </a:prstGeom>
        </p:spPr>
      </p:pic>
    </p:spTree>
    <p:extLst>
      <p:ext uri="{BB962C8B-B14F-4D97-AF65-F5344CB8AC3E}">
        <p14:creationId xmlns:p14="http://schemas.microsoft.com/office/powerpoint/2010/main" val="215604334"/>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s a webpage layout for PivotPrime, a company led by actuary Iram Kauser, showcasing services, insights, and a testimonial about their number-driven approach.&#10;&#10;AI-generated content may be incorrect.">
            <a:extLst>
              <a:ext uri="{FF2B5EF4-FFF2-40B4-BE49-F238E27FC236}">
                <a16:creationId xmlns:a16="http://schemas.microsoft.com/office/drawing/2014/main" id="{5966833C-7046-8583-CA56-8EC807AE8585}"/>
              </a:ext>
            </a:extLst>
          </p:cNvPr>
          <p:cNvPicPr>
            <a:picLocks noChangeAspect="1"/>
          </p:cNvPicPr>
          <p:nvPr/>
        </p:nvPicPr>
        <p:blipFill>
          <a:blip r:embed="rId2"/>
          <a:stretch>
            <a:fillRect/>
          </a:stretch>
        </p:blipFill>
        <p:spPr>
          <a:xfrm>
            <a:off x="799592" y="896249"/>
            <a:ext cx="9235947" cy="5065502"/>
          </a:xfrm>
          <a:prstGeom prst="rect">
            <a:avLst/>
          </a:prstGeom>
        </p:spPr>
      </p:pic>
      <p:pic>
        <p:nvPicPr>
          <p:cNvPr id="5" name="Picture 4" descr="A woman with curly hair and rings on her fingers is dressed in a striped suit, holding her hands together.&#10;&#10;AI-generated content may be incorrect.">
            <a:extLst>
              <a:ext uri="{FF2B5EF4-FFF2-40B4-BE49-F238E27FC236}">
                <a16:creationId xmlns:a16="http://schemas.microsoft.com/office/drawing/2014/main" id="{92C83745-E8AA-F8CC-144A-2D9E3F44BC74}"/>
              </a:ext>
            </a:extLst>
          </p:cNvPr>
          <p:cNvPicPr>
            <a:picLocks noChangeAspect="1"/>
          </p:cNvPicPr>
          <p:nvPr/>
        </p:nvPicPr>
        <p:blipFill>
          <a:blip r:embed="rId3"/>
          <a:srcRect r="14184"/>
          <a:stretch>
            <a:fillRect/>
          </a:stretch>
        </p:blipFill>
        <p:spPr>
          <a:xfrm>
            <a:off x="5973199" y="1395025"/>
            <a:ext cx="2687246" cy="4675820"/>
          </a:xfrm>
          <a:prstGeom prst="rect">
            <a:avLst/>
          </a:prstGeom>
        </p:spPr>
      </p:pic>
    </p:spTree>
    <p:extLst>
      <p:ext uri="{BB962C8B-B14F-4D97-AF65-F5344CB8AC3E}">
        <p14:creationId xmlns:p14="http://schemas.microsoft.com/office/powerpoint/2010/main" val="4169782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epicts a case study showcasing a financial services company's success in reducing transaction processing time from 10 days to 3 days, achieving a 25% reduction in operational waste, and streamlining their operations by removing duplicate roles and offshoring tasks.&#10;&#10;AI-generated content may be incorrect.">
            <a:extLst>
              <a:ext uri="{FF2B5EF4-FFF2-40B4-BE49-F238E27FC236}">
                <a16:creationId xmlns:a16="http://schemas.microsoft.com/office/drawing/2014/main" id="{54A09B6E-F645-9127-8C38-E21DA4DB8FEC}"/>
              </a:ext>
            </a:extLst>
          </p:cNvPr>
          <p:cNvPicPr>
            <a:picLocks noChangeAspect="1"/>
          </p:cNvPicPr>
          <p:nvPr/>
        </p:nvPicPr>
        <p:blipFill>
          <a:blip r:embed="rId3"/>
          <a:stretch>
            <a:fillRect/>
          </a:stretch>
        </p:blipFill>
        <p:spPr>
          <a:xfrm>
            <a:off x="144566" y="362914"/>
            <a:ext cx="4157612" cy="2125455"/>
          </a:xfrm>
          <a:prstGeom prst="rect">
            <a:avLst/>
          </a:prstGeom>
        </p:spPr>
      </p:pic>
      <p:pic>
        <p:nvPicPr>
          <p:cNvPr id="5" name="Picture 4" descr="The image depicts a web page showcasing successes achieved by a company, including anonymized testimonials from clients and insights from a founder and CEO.&#10;&#10;AI-generated content may be incorrect.">
            <a:extLst>
              <a:ext uri="{FF2B5EF4-FFF2-40B4-BE49-F238E27FC236}">
                <a16:creationId xmlns:a16="http://schemas.microsoft.com/office/drawing/2014/main" id="{101A8AB5-539D-2A48-022A-531ACBA61290}"/>
              </a:ext>
            </a:extLst>
          </p:cNvPr>
          <p:cNvPicPr>
            <a:picLocks noChangeAspect="1"/>
          </p:cNvPicPr>
          <p:nvPr/>
        </p:nvPicPr>
        <p:blipFill>
          <a:blip r:embed="rId4"/>
          <a:stretch>
            <a:fillRect/>
          </a:stretch>
        </p:blipFill>
        <p:spPr>
          <a:xfrm>
            <a:off x="4302178" y="176748"/>
            <a:ext cx="5995182" cy="2182795"/>
          </a:xfrm>
          <a:prstGeom prst="rect">
            <a:avLst/>
          </a:prstGeom>
        </p:spPr>
      </p:pic>
      <p:pic>
        <p:nvPicPr>
          <p:cNvPr id="7" name="Picture 6" descr="The image depicts a baby skincare product being launched in both the UK and UAE, with a focus on the strategic partnership and operational planning undertaken by a UK founder.&#10;&#10;AI-generated content may be incorrect.">
            <a:extLst>
              <a:ext uri="{FF2B5EF4-FFF2-40B4-BE49-F238E27FC236}">
                <a16:creationId xmlns:a16="http://schemas.microsoft.com/office/drawing/2014/main" id="{B0D89967-CCEA-EE03-88F4-DF5AC5D73433}"/>
              </a:ext>
            </a:extLst>
          </p:cNvPr>
          <p:cNvPicPr>
            <a:picLocks noChangeAspect="1"/>
          </p:cNvPicPr>
          <p:nvPr/>
        </p:nvPicPr>
        <p:blipFill>
          <a:blip r:embed="rId5"/>
          <a:stretch>
            <a:fillRect/>
          </a:stretch>
        </p:blipFill>
        <p:spPr>
          <a:xfrm>
            <a:off x="6825944" y="1868521"/>
            <a:ext cx="4704710" cy="2629937"/>
          </a:xfrm>
          <a:prstGeom prst="rect">
            <a:avLst/>
          </a:prstGeom>
        </p:spPr>
      </p:pic>
      <p:pic>
        <p:nvPicPr>
          <p:cNvPr id="9" name="Picture 8" descr="A web page showcasing a cash-flow model used by a UK fragrance tech company to evaluate the financial viability of entering the UAE market, leading to a decision to delay their expansion and save over ￂﾣ100,000.&#10;&#10;AI-generated content may be incorrect.">
            <a:extLst>
              <a:ext uri="{FF2B5EF4-FFF2-40B4-BE49-F238E27FC236}">
                <a16:creationId xmlns:a16="http://schemas.microsoft.com/office/drawing/2014/main" id="{AE52F5FA-EBE4-1196-CB25-A5F1CA1A8049}"/>
              </a:ext>
            </a:extLst>
          </p:cNvPr>
          <p:cNvPicPr>
            <a:picLocks noChangeAspect="1"/>
          </p:cNvPicPr>
          <p:nvPr/>
        </p:nvPicPr>
        <p:blipFill>
          <a:blip r:embed="rId6"/>
          <a:stretch>
            <a:fillRect/>
          </a:stretch>
        </p:blipFill>
        <p:spPr>
          <a:xfrm>
            <a:off x="2442373" y="2359543"/>
            <a:ext cx="4383571" cy="2642050"/>
          </a:xfrm>
          <a:prstGeom prst="rect">
            <a:avLst/>
          </a:prstGeom>
        </p:spPr>
      </p:pic>
      <p:pic>
        <p:nvPicPr>
          <p:cNvPr id="11" name="Picture 10">
            <a:extLst>
              <a:ext uri="{FF2B5EF4-FFF2-40B4-BE49-F238E27FC236}">
                <a16:creationId xmlns:a16="http://schemas.microsoft.com/office/drawing/2014/main" id="{0B0A6744-20EA-DD18-E903-FB861E02B4DB}"/>
              </a:ext>
            </a:extLst>
          </p:cNvPr>
          <p:cNvPicPr>
            <a:picLocks noChangeAspect="1"/>
          </p:cNvPicPr>
          <p:nvPr/>
        </p:nvPicPr>
        <p:blipFill>
          <a:blip r:embed="rId7"/>
          <a:stretch>
            <a:fillRect/>
          </a:stretch>
        </p:blipFill>
        <p:spPr>
          <a:xfrm>
            <a:off x="6710287" y="4519070"/>
            <a:ext cx="4383571" cy="1947089"/>
          </a:xfrm>
          <a:prstGeom prst="rect">
            <a:avLst/>
          </a:prstGeom>
        </p:spPr>
      </p:pic>
    </p:spTree>
    <p:extLst>
      <p:ext uri="{BB962C8B-B14F-4D97-AF65-F5344CB8AC3E}">
        <p14:creationId xmlns:p14="http://schemas.microsoft.com/office/powerpoint/2010/main" val="310941402"/>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s a web page section offering services to help SMEs (Small and Medium Enterprises) with leadership, scaling, and execution, featuring a list of potential roles within a company.&#10;&#10;AI-generated content may be incorrect.">
            <a:extLst>
              <a:ext uri="{FF2B5EF4-FFF2-40B4-BE49-F238E27FC236}">
                <a16:creationId xmlns:a16="http://schemas.microsoft.com/office/drawing/2014/main" id="{42750A9A-1CC9-994C-EC0B-62ACBF74DBBA}"/>
              </a:ext>
            </a:extLst>
          </p:cNvPr>
          <p:cNvPicPr>
            <a:picLocks noChangeAspect="1"/>
          </p:cNvPicPr>
          <p:nvPr/>
        </p:nvPicPr>
        <p:blipFill>
          <a:blip r:embed="rId3"/>
          <a:stretch>
            <a:fillRect/>
          </a:stretch>
        </p:blipFill>
        <p:spPr>
          <a:xfrm>
            <a:off x="422031" y="508088"/>
            <a:ext cx="7194378" cy="3691117"/>
          </a:xfrm>
          <a:prstGeom prst="rect">
            <a:avLst/>
          </a:prstGeom>
        </p:spPr>
      </p:pic>
      <p:pic>
        <p:nvPicPr>
          <p:cNvPr id="6" name="Picture 5" descr="The image depicts a diagram illustrating the challenges of managing and scaling a small to medium enterprise (SME), highlighting the unpredictable nature of revenue and margins, and the need for a more stable operating rhythm.&#10;&#10;AI-generated content may be incorrect.">
            <a:extLst>
              <a:ext uri="{FF2B5EF4-FFF2-40B4-BE49-F238E27FC236}">
                <a16:creationId xmlns:a16="http://schemas.microsoft.com/office/drawing/2014/main" id="{0B938582-C014-80FA-02FA-6F3F6E216ACD}"/>
              </a:ext>
            </a:extLst>
          </p:cNvPr>
          <p:cNvPicPr>
            <a:picLocks noChangeAspect="1"/>
          </p:cNvPicPr>
          <p:nvPr/>
        </p:nvPicPr>
        <p:blipFill>
          <a:blip r:embed="rId4"/>
          <a:stretch>
            <a:fillRect/>
          </a:stretch>
        </p:blipFill>
        <p:spPr>
          <a:xfrm>
            <a:off x="5190422" y="3088803"/>
            <a:ext cx="6579547" cy="3177056"/>
          </a:xfrm>
          <a:prstGeom prst="rect">
            <a:avLst/>
          </a:prstGeom>
        </p:spPr>
      </p:pic>
    </p:spTree>
    <p:extLst>
      <p:ext uri="{BB962C8B-B14F-4D97-AF65-F5344CB8AC3E}">
        <p14:creationId xmlns:p14="http://schemas.microsoft.com/office/powerpoint/2010/main" val="2313278102"/>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 section from a text discussing the importance of measuring outcomes and baselines for consulting services, emphasizing the linkage of fees to performance.&#10;&#10;AI-generated content may be incorrect.">
            <a:extLst>
              <a:ext uri="{FF2B5EF4-FFF2-40B4-BE49-F238E27FC236}">
                <a16:creationId xmlns:a16="http://schemas.microsoft.com/office/drawing/2014/main" id="{875BFDAD-E123-D1EF-7511-876D8134F7CB}"/>
              </a:ext>
            </a:extLst>
          </p:cNvPr>
          <p:cNvPicPr>
            <a:picLocks noChangeAspect="1"/>
          </p:cNvPicPr>
          <p:nvPr/>
        </p:nvPicPr>
        <p:blipFill>
          <a:blip r:embed="rId3"/>
          <a:stretch>
            <a:fillRect/>
          </a:stretch>
        </p:blipFill>
        <p:spPr>
          <a:xfrm>
            <a:off x="323342" y="689317"/>
            <a:ext cx="8478343" cy="3992638"/>
          </a:xfrm>
          <a:prstGeom prst="rect">
            <a:avLst/>
          </a:prstGeom>
        </p:spPr>
      </p:pic>
      <p:pic>
        <p:nvPicPr>
          <p:cNvPr id="5" name="Picture 4">
            <a:extLst>
              <a:ext uri="{FF2B5EF4-FFF2-40B4-BE49-F238E27FC236}">
                <a16:creationId xmlns:a16="http://schemas.microsoft.com/office/drawing/2014/main" id="{069FF8ED-2A3D-2829-D62F-39E252FDBDD4}"/>
              </a:ext>
            </a:extLst>
          </p:cNvPr>
          <p:cNvPicPr>
            <a:picLocks noChangeAspect="1"/>
          </p:cNvPicPr>
          <p:nvPr/>
        </p:nvPicPr>
        <p:blipFill>
          <a:blip r:embed="rId4"/>
          <a:stretch>
            <a:fillRect/>
          </a:stretch>
        </p:blipFill>
        <p:spPr>
          <a:xfrm>
            <a:off x="6576646" y="1104350"/>
            <a:ext cx="4891493" cy="3692733"/>
          </a:xfrm>
          <a:prstGeom prst="rect">
            <a:avLst/>
          </a:prstGeom>
        </p:spPr>
      </p:pic>
      <p:pic>
        <p:nvPicPr>
          <p:cNvPr id="7" name="Picture 6" descr="The image illustrates a consultant fee structure where the consultant charges a percentage of the achieved savings, rather than a flat fee, incentivizing actual performance improvement.&#10;&#10;AI-generated content may be incorrect.">
            <a:extLst>
              <a:ext uri="{FF2B5EF4-FFF2-40B4-BE49-F238E27FC236}">
                <a16:creationId xmlns:a16="http://schemas.microsoft.com/office/drawing/2014/main" id="{B045557A-AD34-C9DE-F758-C9A598AE8922}"/>
              </a:ext>
            </a:extLst>
          </p:cNvPr>
          <p:cNvPicPr>
            <a:picLocks noChangeAspect="1"/>
          </p:cNvPicPr>
          <p:nvPr/>
        </p:nvPicPr>
        <p:blipFill>
          <a:blip r:embed="rId5"/>
          <a:stretch>
            <a:fillRect/>
          </a:stretch>
        </p:blipFill>
        <p:spPr>
          <a:xfrm>
            <a:off x="513470" y="3912390"/>
            <a:ext cx="4433668" cy="2433643"/>
          </a:xfrm>
          <a:prstGeom prst="rect">
            <a:avLst/>
          </a:prstGeom>
        </p:spPr>
      </p:pic>
      <p:pic>
        <p:nvPicPr>
          <p:cNvPr id="9" name="Picture 8" descr="The image displays a message stating that without updating numbers, most of the fees remain unpaid, and it includes a link to performance-related fees.&#10;&#10;AI-generated content may be incorrect.">
            <a:extLst>
              <a:ext uri="{FF2B5EF4-FFF2-40B4-BE49-F238E27FC236}">
                <a16:creationId xmlns:a16="http://schemas.microsoft.com/office/drawing/2014/main" id="{19DE79ED-93AA-90BB-87A3-C4602C8A3552}"/>
              </a:ext>
            </a:extLst>
          </p:cNvPr>
          <p:cNvPicPr>
            <a:picLocks noChangeAspect="1"/>
          </p:cNvPicPr>
          <p:nvPr/>
        </p:nvPicPr>
        <p:blipFill>
          <a:blip r:embed="rId6"/>
          <a:stretch>
            <a:fillRect/>
          </a:stretch>
        </p:blipFill>
        <p:spPr>
          <a:xfrm>
            <a:off x="5137266" y="4823965"/>
            <a:ext cx="4982785" cy="1380058"/>
          </a:xfrm>
          <a:prstGeom prst="rect">
            <a:avLst/>
          </a:prstGeom>
        </p:spPr>
      </p:pic>
    </p:spTree>
    <p:extLst>
      <p:ext uri="{BB962C8B-B14F-4D97-AF65-F5344CB8AC3E}">
        <p14:creationId xmlns:p14="http://schemas.microsoft.com/office/powerpoint/2010/main" val="1542043184"/>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 webpage for PivotPrime, showcasing various services such as Operational Clarity Audit, Fractional COO, CFO, and CTO, with a focus on how their services help streamline business operations and executive roles.&#10;&#10;AI-generated content may be incorrect.">
            <a:extLst>
              <a:ext uri="{FF2B5EF4-FFF2-40B4-BE49-F238E27FC236}">
                <a16:creationId xmlns:a16="http://schemas.microsoft.com/office/drawing/2014/main" id="{01C87146-C76C-B4F3-A41B-D826C320CF8D}"/>
              </a:ext>
            </a:extLst>
          </p:cNvPr>
          <p:cNvPicPr>
            <a:picLocks noChangeAspect="1"/>
          </p:cNvPicPr>
          <p:nvPr/>
        </p:nvPicPr>
        <p:blipFill>
          <a:blip r:embed="rId3"/>
          <a:stretch>
            <a:fillRect/>
          </a:stretch>
        </p:blipFill>
        <p:spPr>
          <a:xfrm>
            <a:off x="527539" y="378121"/>
            <a:ext cx="8428892" cy="4669583"/>
          </a:xfrm>
          <a:prstGeom prst="rect">
            <a:avLst/>
          </a:prstGeom>
        </p:spPr>
      </p:pic>
    </p:spTree>
    <p:extLst>
      <p:ext uri="{BB962C8B-B14F-4D97-AF65-F5344CB8AC3E}">
        <p14:creationId xmlns:p14="http://schemas.microsoft.com/office/powerpoint/2010/main" val="3373057011"/>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 comprehensive checklist for evaluating and improving a business model, including aspects such as pricing, cost structure, workflow, and strategic decisions.&#10;&#10;AI-generated content may be incorrect.">
            <a:extLst>
              <a:ext uri="{FF2B5EF4-FFF2-40B4-BE49-F238E27FC236}">
                <a16:creationId xmlns:a16="http://schemas.microsoft.com/office/drawing/2014/main" id="{1863B035-75DC-A9D2-F36C-82F3ADFA57E8}"/>
              </a:ext>
            </a:extLst>
          </p:cNvPr>
          <p:cNvPicPr>
            <a:picLocks noChangeAspect="1"/>
          </p:cNvPicPr>
          <p:nvPr/>
        </p:nvPicPr>
        <p:blipFill>
          <a:blip r:embed="rId3"/>
          <a:stretch>
            <a:fillRect/>
          </a:stretch>
        </p:blipFill>
        <p:spPr>
          <a:xfrm>
            <a:off x="7063929" y="3889717"/>
            <a:ext cx="4485173" cy="2134864"/>
          </a:xfrm>
          <a:prstGeom prst="rect">
            <a:avLst/>
          </a:prstGeom>
        </p:spPr>
      </p:pic>
      <p:pic>
        <p:nvPicPr>
          <p:cNvPr id="5" name="Picture 4" descr="The diagram illustrates a process flow with seven steps, including audit, approval, delivery, enquiry, quote, invoice, and rework, featuring four backward handoffs and two unowned steps, depicting a common business process.&#10;&#10;AI-generated content may be incorrect.">
            <a:extLst>
              <a:ext uri="{FF2B5EF4-FFF2-40B4-BE49-F238E27FC236}">
                <a16:creationId xmlns:a16="http://schemas.microsoft.com/office/drawing/2014/main" id="{19E37C2A-23C0-DF9F-99C8-6FD0F09B8739}"/>
              </a:ext>
            </a:extLst>
          </p:cNvPr>
          <p:cNvPicPr>
            <a:picLocks noChangeAspect="1"/>
          </p:cNvPicPr>
          <p:nvPr/>
        </p:nvPicPr>
        <p:blipFill>
          <a:blip r:embed="rId4"/>
          <a:stretch>
            <a:fillRect/>
          </a:stretch>
        </p:blipFill>
        <p:spPr>
          <a:xfrm>
            <a:off x="342226" y="724485"/>
            <a:ext cx="7046499" cy="4084927"/>
          </a:xfrm>
          <a:prstGeom prst="rect">
            <a:avLst/>
          </a:prstGeom>
        </p:spPr>
      </p:pic>
    </p:spTree>
    <p:extLst>
      <p:ext uri="{BB962C8B-B14F-4D97-AF65-F5344CB8AC3E}">
        <p14:creationId xmlns:p14="http://schemas.microsoft.com/office/powerpoint/2010/main" val="1375980930"/>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s a webpage layout for PivotPrime, a company offering services like Operational Clarity Audit, Fractional LE, and CFO, with a pricing model based on engagement duration and team involvement, promising cost savings.&#10;&#10;AI-generated content may be incorrect.">
            <a:extLst>
              <a:ext uri="{FF2B5EF4-FFF2-40B4-BE49-F238E27FC236}">
                <a16:creationId xmlns:a16="http://schemas.microsoft.com/office/drawing/2014/main" id="{0B889EA5-8C2E-C4E3-8350-1F6B58C9EE3D}"/>
              </a:ext>
            </a:extLst>
          </p:cNvPr>
          <p:cNvPicPr>
            <a:picLocks noChangeAspect="1"/>
          </p:cNvPicPr>
          <p:nvPr/>
        </p:nvPicPr>
        <p:blipFill>
          <a:blip r:embed="rId3"/>
          <a:stretch>
            <a:fillRect/>
          </a:stretch>
        </p:blipFill>
        <p:spPr>
          <a:xfrm>
            <a:off x="322331" y="450165"/>
            <a:ext cx="7347443" cy="4171071"/>
          </a:xfrm>
          <a:prstGeom prst="rect">
            <a:avLst/>
          </a:prstGeom>
        </p:spPr>
      </p:pic>
      <p:pic>
        <p:nvPicPr>
          <p:cNvPr id="5" name="Picture 4" descr="The image describes the structure of a growing business where executive roles are temporary, focusing on designing operating models, building processes, and setting standards, rather than maintaining a permanent executive team.&#10;&#10;AI-generated content may be incorrect.">
            <a:extLst>
              <a:ext uri="{FF2B5EF4-FFF2-40B4-BE49-F238E27FC236}">
                <a16:creationId xmlns:a16="http://schemas.microsoft.com/office/drawing/2014/main" id="{3CD3A287-8C02-BA79-8865-C046BB5794E7}"/>
              </a:ext>
            </a:extLst>
          </p:cNvPr>
          <p:cNvPicPr>
            <a:picLocks noChangeAspect="1"/>
          </p:cNvPicPr>
          <p:nvPr/>
        </p:nvPicPr>
        <p:blipFill>
          <a:blip r:embed="rId4"/>
          <a:stretch>
            <a:fillRect/>
          </a:stretch>
        </p:blipFill>
        <p:spPr>
          <a:xfrm>
            <a:off x="5716172" y="1065628"/>
            <a:ext cx="6096000" cy="2686010"/>
          </a:xfrm>
          <a:prstGeom prst="rect">
            <a:avLst/>
          </a:prstGeom>
        </p:spPr>
      </p:pic>
      <p:pic>
        <p:nvPicPr>
          <p:cNvPr id="7" name="Picture 6">
            <a:extLst>
              <a:ext uri="{FF2B5EF4-FFF2-40B4-BE49-F238E27FC236}">
                <a16:creationId xmlns:a16="http://schemas.microsoft.com/office/drawing/2014/main" id="{0F05E7E9-53F3-1DE9-4838-46A83F5811E4}"/>
              </a:ext>
            </a:extLst>
          </p:cNvPr>
          <p:cNvPicPr>
            <a:picLocks noChangeAspect="1"/>
          </p:cNvPicPr>
          <p:nvPr/>
        </p:nvPicPr>
        <p:blipFill>
          <a:blip r:embed="rId5"/>
          <a:stretch>
            <a:fillRect/>
          </a:stretch>
        </p:blipFill>
        <p:spPr>
          <a:xfrm>
            <a:off x="5176911" y="3170749"/>
            <a:ext cx="6174072" cy="3483219"/>
          </a:xfrm>
          <a:prstGeom prst="rect">
            <a:avLst/>
          </a:prstGeom>
        </p:spPr>
      </p:pic>
    </p:spTree>
    <p:extLst>
      <p:ext uri="{BB962C8B-B14F-4D97-AF65-F5344CB8AC3E}">
        <p14:creationId xmlns:p14="http://schemas.microsoft.com/office/powerpoint/2010/main" val="1308663268"/>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diagram illustrates a project management structure with roles such as Project Manager, Fractional CFO, Pivot Prime, and Engineer, highlighting the allocation of tasks and responsibilities, with the focus on filling only the necessary roles based on business needs.&#10;&#10;AI-generated content may be incorrect.">
            <a:extLst>
              <a:ext uri="{FF2B5EF4-FFF2-40B4-BE49-F238E27FC236}">
                <a16:creationId xmlns:a16="http://schemas.microsoft.com/office/drawing/2014/main" id="{662A90D0-613A-4364-64F1-943C905B3074}"/>
              </a:ext>
            </a:extLst>
          </p:cNvPr>
          <p:cNvPicPr>
            <a:picLocks noChangeAspect="1"/>
          </p:cNvPicPr>
          <p:nvPr/>
        </p:nvPicPr>
        <p:blipFill>
          <a:blip r:embed="rId3"/>
          <a:stretch>
            <a:fillRect/>
          </a:stretch>
        </p:blipFill>
        <p:spPr>
          <a:xfrm>
            <a:off x="1114388" y="342877"/>
            <a:ext cx="9963223" cy="6172245"/>
          </a:xfrm>
          <a:prstGeom prst="rect">
            <a:avLst/>
          </a:prstGeom>
        </p:spPr>
      </p:pic>
    </p:spTree>
    <p:extLst>
      <p:ext uri="{BB962C8B-B14F-4D97-AF65-F5344CB8AC3E}">
        <p14:creationId xmlns:p14="http://schemas.microsoft.com/office/powerpoint/2010/main" val="3199150829"/>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s a webpage layout for PivotPrime, a web-based service offering customized software solutions, with sections for contact, services, and a chat invitation.&#10;&#10;AI-generated content may be incorrect.">
            <a:extLst>
              <a:ext uri="{FF2B5EF4-FFF2-40B4-BE49-F238E27FC236}">
                <a16:creationId xmlns:a16="http://schemas.microsoft.com/office/drawing/2014/main" id="{6A78303B-7E15-2D60-536D-D8BC1A11BF07}"/>
              </a:ext>
            </a:extLst>
          </p:cNvPr>
          <p:cNvPicPr>
            <a:picLocks noChangeAspect="1"/>
          </p:cNvPicPr>
          <p:nvPr/>
        </p:nvPicPr>
        <p:blipFill>
          <a:blip r:embed="rId3"/>
          <a:stretch>
            <a:fillRect/>
          </a:stretch>
        </p:blipFill>
        <p:spPr>
          <a:xfrm>
            <a:off x="1205264" y="963637"/>
            <a:ext cx="9235308" cy="4293666"/>
          </a:xfrm>
          <a:prstGeom prst="rect">
            <a:avLst/>
          </a:prstGeom>
        </p:spPr>
      </p:pic>
    </p:spTree>
    <p:extLst>
      <p:ext uri="{BB962C8B-B14F-4D97-AF65-F5344CB8AC3E}">
        <p14:creationId xmlns:p14="http://schemas.microsoft.com/office/powerpoint/2010/main" val="204048540"/>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text emphasizes a no-cost service, promising transparency in business models before investing, and invites inquiries via WhatsApp.&#10;&#10;AI-generated content may be incorrect.">
            <a:extLst>
              <a:ext uri="{FF2B5EF4-FFF2-40B4-BE49-F238E27FC236}">
                <a16:creationId xmlns:a16="http://schemas.microsoft.com/office/drawing/2014/main" id="{9B9A0FB5-EDE9-F2AA-C24A-7295E908D9D1}"/>
              </a:ext>
            </a:extLst>
          </p:cNvPr>
          <p:cNvPicPr>
            <a:picLocks noChangeAspect="1"/>
          </p:cNvPicPr>
          <p:nvPr/>
        </p:nvPicPr>
        <p:blipFill>
          <a:blip r:embed="rId3"/>
          <a:stretch>
            <a:fillRect/>
          </a:stretch>
        </p:blipFill>
        <p:spPr>
          <a:xfrm>
            <a:off x="638135" y="1195371"/>
            <a:ext cx="10915730" cy="4467258"/>
          </a:xfrm>
          <a:prstGeom prst="rect">
            <a:avLst/>
          </a:prstGeom>
        </p:spPr>
      </p:pic>
    </p:spTree>
    <p:extLst>
      <p:ext uri="{BB962C8B-B14F-4D97-AF65-F5344CB8AC3E}">
        <p14:creationId xmlns:p14="http://schemas.microsoft.com/office/powerpoint/2010/main" val="2770620475"/>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 website for PivotPrime, featuring sections on services, contact information, and an overview of their operational clarity and strategic implementation services.&#10;&#10;AI-generated content may be incorrect.">
            <a:extLst>
              <a:ext uri="{FF2B5EF4-FFF2-40B4-BE49-F238E27FC236}">
                <a16:creationId xmlns:a16="http://schemas.microsoft.com/office/drawing/2014/main" id="{BDDFB329-3961-FF27-DFFE-FAA4679E45E1}"/>
              </a:ext>
            </a:extLst>
          </p:cNvPr>
          <p:cNvPicPr>
            <a:picLocks noChangeAspect="1"/>
          </p:cNvPicPr>
          <p:nvPr/>
        </p:nvPicPr>
        <p:blipFill>
          <a:blip r:embed="rId3"/>
          <a:stretch>
            <a:fillRect/>
          </a:stretch>
        </p:blipFill>
        <p:spPr>
          <a:xfrm>
            <a:off x="861899" y="1055076"/>
            <a:ext cx="7726315" cy="4353952"/>
          </a:xfrm>
          <a:prstGeom prst="rect">
            <a:avLst/>
          </a:prstGeom>
        </p:spPr>
      </p:pic>
    </p:spTree>
    <p:extLst>
      <p:ext uri="{BB962C8B-B14F-4D97-AF65-F5344CB8AC3E}">
        <p14:creationId xmlns:p14="http://schemas.microsoft.com/office/powerpoint/2010/main" val="1448832086"/>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s a webpage layout for PivotPrime, featuring sections for services, contact, and a chapter on founders, highlighting challenges faced by creators.&#10;&#10;AI-generated content may be incorrect.">
            <a:extLst>
              <a:ext uri="{FF2B5EF4-FFF2-40B4-BE49-F238E27FC236}">
                <a16:creationId xmlns:a16="http://schemas.microsoft.com/office/drawing/2014/main" id="{1E30F339-937A-0BF0-C978-D2D47B116B3F}"/>
              </a:ext>
            </a:extLst>
          </p:cNvPr>
          <p:cNvPicPr>
            <a:picLocks noChangeAspect="1"/>
          </p:cNvPicPr>
          <p:nvPr/>
        </p:nvPicPr>
        <p:blipFill>
          <a:blip r:embed="rId3"/>
          <a:stretch>
            <a:fillRect/>
          </a:stretch>
        </p:blipFill>
        <p:spPr>
          <a:xfrm>
            <a:off x="339377" y="49237"/>
            <a:ext cx="7998075" cy="3563996"/>
          </a:xfrm>
          <a:prstGeom prst="rect">
            <a:avLst/>
          </a:prstGeom>
        </p:spPr>
      </p:pic>
      <p:pic>
        <p:nvPicPr>
          <p:cNvPr id="5" name="Picture 4" descr="The image depicts a service offering a comprehensive operational audit for a business, aimed at identifying areas of inefficiency and dependence on the user.&#10;&#10;AI-generated content may be incorrect.">
            <a:extLst>
              <a:ext uri="{FF2B5EF4-FFF2-40B4-BE49-F238E27FC236}">
                <a16:creationId xmlns:a16="http://schemas.microsoft.com/office/drawing/2014/main" id="{0241E84B-BA99-6787-6FFA-6CDA5AA93F2D}"/>
              </a:ext>
            </a:extLst>
          </p:cNvPr>
          <p:cNvPicPr>
            <a:picLocks noChangeAspect="1"/>
          </p:cNvPicPr>
          <p:nvPr/>
        </p:nvPicPr>
        <p:blipFill>
          <a:blip r:embed="rId4"/>
          <a:stretch>
            <a:fillRect/>
          </a:stretch>
        </p:blipFill>
        <p:spPr>
          <a:xfrm>
            <a:off x="4410220" y="770136"/>
            <a:ext cx="7310511" cy="2658864"/>
          </a:xfrm>
          <a:prstGeom prst="rect">
            <a:avLst/>
          </a:prstGeom>
        </p:spPr>
      </p:pic>
      <p:pic>
        <p:nvPicPr>
          <p:cNvPr id="7" name="Picture 6" descr="The image depicts a tool or service designed to assist individuals or organizations in clearly defining roles, responsibilities, and hiring strategies to ensure effective teamwork and decision-making.&#10;&#10;AI-generated content may be incorrect.">
            <a:extLst>
              <a:ext uri="{FF2B5EF4-FFF2-40B4-BE49-F238E27FC236}">
                <a16:creationId xmlns:a16="http://schemas.microsoft.com/office/drawing/2014/main" id="{326B5A21-6121-EF09-6773-D21088440E1B}"/>
              </a:ext>
            </a:extLst>
          </p:cNvPr>
          <p:cNvPicPr>
            <a:picLocks noChangeAspect="1"/>
          </p:cNvPicPr>
          <p:nvPr/>
        </p:nvPicPr>
        <p:blipFill>
          <a:blip r:embed="rId5"/>
          <a:stretch>
            <a:fillRect/>
          </a:stretch>
        </p:blipFill>
        <p:spPr>
          <a:xfrm>
            <a:off x="4338414" y="2230942"/>
            <a:ext cx="6852544" cy="2948816"/>
          </a:xfrm>
          <a:prstGeom prst="rect">
            <a:avLst/>
          </a:prstGeom>
        </p:spPr>
      </p:pic>
      <p:pic>
        <p:nvPicPr>
          <p:cNvPr id="9" name="Picture 8" descr="The image depicts a presentation slide outlining a strategy for streamlining business processes and workflows to accommodate growth, with a focus on reducing chaos and improving efficiency.&#10;&#10;AI-generated content may be incorrect.">
            <a:extLst>
              <a:ext uri="{FF2B5EF4-FFF2-40B4-BE49-F238E27FC236}">
                <a16:creationId xmlns:a16="http://schemas.microsoft.com/office/drawing/2014/main" id="{50637DC9-B6B9-2196-D361-08459C894F4F}"/>
              </a:ext>
            </a:extLst>
          </p:cNvPr>
          <p:cNvPicPr>
            <a:picLocks noChangeAspect="1"/>
          </p:cNvPicPr>
          <p:nvPr/>
        </p:nvPicPr>
        <p:blipFill>
          <a:blip r:embed="rId6"/>
          <a:stretch>
            <a:fillRect/>
          </a:stretch>
        </p:blipFill>
        <p:spPr>
          <a:xfrm>
            <a:off x="4338414" y="3604210"/>
            <a:ext cx="6907936" cy="3151096"/>
          </a:xfrm>
          <a:prstGeom prst="rect">
            <a:avLst/>
          </a:prstGeom>
        </p:spPr>
      </p:pic>
    </p:spTree>
    <p:extLst>
      <p:ext uri="{BB962C8B-B14F-4D97-AF65-F5344CB8AC3E}">
        <p14:creationId xmlns:p14="http://schemas.microsoft.com/office/powerpoint/2010/main" val="933026673"/>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EE6B37-F826-BE51-4960-EEC1BDE2AB8D}"/>
              </a:ext>
            </a:extLst>
          </p:cNvPr>
          <p:cNvPicPr>
            <a:picLocks noChangeAspect="1"/>
          </p:cNvPicPr>
          <p:nvPr/>
        </p:nvPicPr>
        <p:blipFill>
          <a:blip r:embed="rId3"/>
          <a:stretch>
            <a:fillRect/>
          </a:stretch>
        </p:blipFill>
        <p:spPr>
          <a:xfrm>
            <a:off x="400008" y="1085833"/>
            <a:ext cx="11391983" cy="4686334"/>
          </a:xfrm>
          <a:prstGeom prst="rect">
            <a:avLst/>
          </a:prstGeom>
        </p:spPr>
      </p:pic>
    </p:spTree>
    <p:extLst>
      <p:ext uri="{BB962C8B-B14F-4D97-AF65-F5344CB8AC3E}">
        <p14:creationId xmlns:p14="http://schemas.microsoft.com/office/powerpoint/2010/main" val="3855261821"/>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0CDF8-F296-0D0F-F01B-C69AE3CE7037}"/>
              </a:ext>
            </a:extLst>
          </p:cNvPr>
          <p:cNvPicPr>
            <a:picLocks noChangeAspect="1"/>
          </p:cNvPicPr>
          <p:nvPr/>
        </p:nvPicPr>
        <p:blipFill>
          <a:blip r:embed="rId3"/>
          <a:stretch>
            <a:fillRect/>
          </a:stretch>
        </p:blipFill>
        <p:spPr>
          <a:xfrm>
            <a:off x="6044367" y="357125"/>
            <a:ext cx="5384962" cy="2760794"/>
          </a:xfrm>
          <a:prstGeom prst="rect">
            <a:avLst/>
          </a:prstGeom>
        </p:spPr>
      </p:pic>
      <p:pic>
        <p:nvPicPr>
          <p:cNvPr id="5" name="Picture 4">
            <a:extLst>
              <a:ext uri="{FF2B5EF4-FFF2-40B4-BE49-F238E27FC236}">
                <a16:creationId xmlns:a16="http://schemas.microsoft.com/office/drawing/2014/main" id="{B314D063-0843-A33C-F6D6-580144075121}"/>
              </a:ext>
            </a:extLst>
          </p:cNvPr>
          <p:cNvPicPr>
            <a:picLocks noChangeAspect="1"/>
          </p:cNvPicPr>
          <p:nvPr/>
        </p:nvPicPr>
        <p:blipFill>
          <a:blip r:embed="rId4"/>
          <a:stretch>
            <a:fillRect/>
          </a:stretch>
        </p:blipFill>
        <p:spPr>
          <a:xfrm>
            <a:off x="6096000" y="3344593"/>
            <a:ext cx="5911267" cy="2682844"/>
          </a:xfrm>
          <a:prstGeom prst="rect">
            <a:avLst/>
          </a:prstGeom>
        </p:spPr>
      </p:pic>
      <p:pic>
        <p:nvPicPr>
          <p:cNvPr id="7" name="Picture 6">
            <a:extLst>
              <a:ext uri="{FF2B5EF4-FFF2-40B4-BE49-F238E27FC236}">
                <a16:creationId xmlns:a16="http://schemas.microsoft.com/office/drawing/2014/main" id="{BBEEEDA1-5ACA-5F1A-7EF0-2AEB9152F471}"/>
              </a:ext>
            </a:extLst>
          </p:cNvPr>
          <p:cNvPicPr>
            <a:picLocks noChangeAspect="1"/>
          </p:cNvPicPr>
          <p:nvPr/>
        </p:nvPicPr>
        <p:blipFill>
          <a:blip r:embed="rId5"/>
          <a:stretch>
            <a:fillRect/>
          </a:stretch>
        </p:blipFill>
        <p:spPr>
          <a:xfrm>
            <a:off x="400929" y="339539"/>
            <a:ext cx="4762437" cy="2087137"/>
          </a:xfrm>
          <a:prstGeom prst="rect">
            <a:avLst/>
          </a:prstGeom>
        </p:spPr>
      </p:pic>
      <p:pic>
        <p:nvPicPr>
          <p:cNvPr id="9" name="Picture 8">
            <a:extLst>
              <a:ext uri="{FF2B5EF4-FFF2-40B4-BE49-F238E27FC236}">
                <a16:creationId xmlns:a16="http://schemas.microsoft.com/office/drawing/2014/main" id="{D387E16B-26D8-D2D4-D1A6-BF70EE3A7314}"/>
              </a:ext>
            </a:extLst>
          </p:cNvPr>
          <p:cNvPicPr>
            <a:picLocks noChangeAspect="1"/>
          </p:cNvPicPr>
          <p:nvPr/>
        </p:nvPicPr>
        <p:blipFill>
          <a:blip r:embed="rId6"/>
          <a:stretch>
            <a:fillRect/>
          </a:stretch>
        </p:blipFill>
        <p:spPr>
          <a:xfrm>
            <a:off x="0" y="3344593"/>
            <a:ext cx="5905543" cy="2833708"/>
          </a:xfrm>
          <a:prstGeom prst="rect">
            <a:avLst/>
          </a:prstGeom>
        </p:spPr>
      </p:pic>
    </p:spTree>
    <p:extLst>
      <p:ext uri="{BB962C8B-B14F-4D97-AF65-F5344CB8AC3E}">
        <p14:creationId xmlns:p14="http://schemas.microsoft.com/office/powerpoint/2010/main" val="3695843375"/>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7677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1751</TotalTime>
  <Words>0</Words>
  <Application>Microsoft Office PowerPoint</Application>
  <PresentationFormat>Widescreen</PresentationFormat>
  <Paragraphs>0</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Iram Kauser</dc:creator>
  <cp:lastModifiedBy>Iram Kauser</cp:lastModifiedBy>
  <cp:revision>3</cp:revision>
  <dcterms:created xsi:type="dcterms:W3CDTF">2026-08-21T09:54:43Z</dcterms:created>
  <dcterms:modified xsi:type="dcterms:W3CDTF">2026-08-22T15:10:48Z</dcterms:modified>
</cp:coreProperties>
</file>